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19872" y="1115568"/>
            <a:ext cx="2880360" cy="2880360"/>
          </a:xfrm>
          <a:prstGeom prst="ellipse">
            <a:avLst/>
          </a:prstGeom>
          <a:noFill/>
          <a:ln w="15240">
            <a:solidFill>
              <a:srgbClr val="3A5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03336" y="1399032"/>
            <a:ext cx="2240280" cy="2240280"/>
          </a:xfrm>
          <a:prstGeom prst="ellipse">
            <a:avLst/>
          </a:prstGeom>
          <a:noFill/>
          <a:ln w="15240">
            <a:solidFill>
              <a:srgbClr val="466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682495"/>
            <a:ext cx="1600200" cy="1600200"/>
          </a:xfrm>
          <a:prstGeom prst="ellipse">
            <a:avLst/>
          </a:prstGeom>
          <a:noFill/>
          <a:ln w="15240">
            <a:solidFill>
              <a:srgbClr val="58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53144" y="2148840"/>
            <a:ext cx="859536" cy="859536"/>
          </a:xfrm>
          <a:prstGeom prst="ellipse">
            <a:avLst/>
          </a:prstGeom>
          <a:solidFill>
            <a:srgbClr val="D2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59952" y="1956816"/>
            <a:ext cx="109728" cy="109728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583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D2A451"/>
                </a:solidFill>
                <a:latin typeface="Lato"/>
              </a:rPr>
              <a:t>CLIMATE PHYSICS / FIELD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713232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Lato"/>
              </a:rPr>
              <a:t>Cloud feedbacks amplify warming—
but uncertainty remains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3813048"/>
            <a:ext cx="914400" cy="41148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96512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7E0DD"/>
                </a:solidFill>
                <a:latin typeface="Lato"/>
              </a:rPr>
              <a:t>A compact technical explainer on the mechanisms behind equilibrium climate sensitivity.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332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C5C3"/>
                </a:solidFill>
                <a:latin typeface="Lato"/>
              </a:rPr>
              <a:t>Evidence: IPCC AR6 WGI Chapter 7 (2021)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476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BDCBCB"/>
                </a:solidFill>
                <a:latin typeface="Lato"/>
              </a:rPr>
              <a:t>IPCC AR6 WGI, chapter 7  /  Synthesis for technical audiences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DCBCB"/>
                </a:solidFill>
                <a:latin typeface="Lat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01 / CLOUD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The feedback sign is assessed as positive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A global estimate sums effects across cloud regimes; component mechanisms need not share the same 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103120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11680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B35"/>
                </a:solidFill>
                <a:latin typeface="Lato"/>
              </a:rPr>
              <a:t>Net cloud feedback: +0.42 W m⁻² °C⁻¹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68296"/>
            <a:ext cx="97566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AR6 assesses a likely range of +0.12 to +0.72; very likely range −0.10 to +0.94.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182112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090672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B35"/>
                </a:solidFill>
                <a:latin typeface="Lato"/>
              </a:rPr>
              <a:t>Low clouds are a key warming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447288"/>
            <a:ext cx="97566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Subtropical marine low-cloud cover is assessed to decline as the surface warms, reflecting less sunlight.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261104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16966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B35"/>
                </a:solidFill>
                <a:latin typeface="Lato"/>
              </a:rPr>
              <a:t>High-cloud altitude adds warming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526280"/>
            <a:ext cx="97566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Tropical high clouds shift upward with the tropopause, tending to retain more outgoing energy.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02 / COMPENSATING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Cloud changes pull in different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Do not turn one mechanism into the whole story: shortwave and longwave effects can oppose one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93392"/>
            <a:ext cx="5193792" cy="91440"/>
          </a:xfrm>
          <a:prstGeom prst="rect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Amplifying warming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7" y="2916936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Less subtropical low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Less reflected shortwave radiation reaches space.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7" y="3749039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Higher tropical high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The cloud-top temperature changes less than the warming surface.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993392"/>
            <a:ext cx="5193792" cy="91440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Offsetting warming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2916936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More liquid-rich high-latitude clouds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Liquid droplets tend to reflect more sunlight than ice crystals.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749039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Tropical anvil amount may fall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Less high-cloud cover can increase outgoing longwave radiation.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5330952"/>
            <a:ext cx="10680192" cy="630936"/>
          </a:xfrm>
          <a:prstGeom prst="rect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5229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2A451"/>
                </a:solidFill>
                <a:latin typeface="Lato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477256"/>
            <a:ext cx="9098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ato"/>
              </a:rPr>
              <a:t>Net effect is assessed positive; the uncertainty is driven in large part by how strongly each regime responds.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03 / WHAT TO COMMUNICATE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The uncertainty is smaller than it was—not gone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A calibrated statement preserves both the robust direction and the remaining uncertainty.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103120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11680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B35"/>
                </a:solidFill>
                <a:latin typeface="Lato"/>
              </a:rPr>
              <a:t>AR6 reduced the very likely cloud-feedback range by about half versus AR5.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68296"/>
            <a:ext cx="97566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The assessment combines evidence from observations, theory, process models and climate models.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182112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090672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B35"/>
                </a:solidFill>
                <a:latin typeface="Lato"/>
              </a:rPr>
              <a:t>The smallest probability of a negative net feedback is not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447288"/>
            <a:ext cx="97566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AR6 retains a very likely interval that extends slightly below zero (−0.10 W m⁻² °C⁻¹).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261104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16966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B35"/>
                </a:solidFill>
                <a:latin typeface="Lato"/>
              </a:rPr>
              <a:t>Clouds remain the largest contributor to feedback uncertainty.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526280"/>
            <a:ext cx="975664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Communicate the central estimate and interval together; do not imply the central estimate is an exact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Earth’s energy imbalance: a field guide to the planetary heat budget</dc:title>
  <dc:subject>Editable briefing built with the human-first slide toolkit</dc:subject>
  <dc:creator>Human-first PowerPoint skill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