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E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119872" y="1115568"/>
            <a:ext cx="2880360" cy="2880360"/>
          </a:xfrm>
          <a:prstGeom prst="ellipse">
            <a:avLst/>
          </a:prstGeom>
          <a:noFill/>
          <a:ln w="15240">
            <a:solidFill>
              <a:srgbClr val="3A5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03336" y="1399032"/>
            <a:ext cx="2240280" cy="2240280"/>
          </a:xfrm>
          <a:prstGeom prst="ellipse">
            <a:avLst/>
          </a:prstGeom>
          <a:noFill/>
          <a:ln w="15240">
            <a:solidFill>
              <a:srgbClr val="466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1682495"/>
            <a:ext cx="1600200" cy="1600200"/>
          </a:xfrm>
          <a:prstGeom prst="ellipse">
            <a:avLst/>
          </a:prstGeom>
          <a:noFill/>
          <a:ln w="15240">
            <a:solidFill>
              <a:srgbClr val="587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53144" y="2148840"/>
            <a:ext cx="859536" cy="859536"/>
          </a:xfrm>
          <a:prstGeom prst="ellipse">
            <a:avLst/>
          </a:prstGeom>
          <a:solidFill>
            <a:srgbClr val="D2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59952" y="1956816"/>
            <a:ext cx="109728" cy="109728"/>
          </a:xfrm>
          <a:prstGeom prst="ellipse">
            <a:avLst/>
          </a:prstGeom>
          <a:solidFill>
            <a:srgbClr val="B64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65836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D2A451"/>
                </a:solidFill>
                <a:latin typeface="Lato"/>
              </a:rPr>
              <a:t>A TECHNICAL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481328"/>
            <a:ext cx="713232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FFFFFF"/>
                </a:solidFill>
                <a:latin typeface="Lato"/>
              </a:rPr>
              <a:t>Earth is gaining heat—
and the ocean holds most of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" y="3813048"/>
            <a:ext cx="914400" cy="41148"/>
          </a:xfrm>
          <a:prstGeom prst="rect">
            <a:avLst/>
          </a:prstGeom>
          <a:solidFill>
            <a:srgbClr val="B64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096512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7E0DD"/>
                </a:solidFill>
                <a:latin typeface="Lato"/>
              </a:rPr>
              <a:t>What the global energy budget reveals about the pace, location and uncertainty of climate change.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332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6C5C3"/>
                </a:solidFill>
                <a:latin typeface="Lato"/>
              </a:rPr>
              <a:t>A visual briefing based on IPCC AR6 WGI Chapter 7 (2021)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6510528"/>
            <a:ext cx="10863072" cy="8229"/>
          </a:xfrm>
          <a:prstGeom prst="rect">
            <a:avLst/>
          </a:prstGeom>
          <a:solidFill>
            <a:srgbClr val="476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6583680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spc="35">
                <a:solidFill>
                  <a:srgbClr val="BDCBCB"/>
                </a:solidFill>
                <a:latin typeface="Lato"/>
              </a:rPr>
              <a:t>IPCC AR6 WGI, chapter 7  /  Synthesis for technical audiences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DCBCB"/>
                </a:solidFill>
                <a:latin typeface="Lat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B64E36"/>
                </a:solidFill>
                <a:latin typeface="Lato"/>
              </a:rPr>
              <a:t>01 / THE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356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B35"/>
                </a:solidFill>
                <a:latin typeface="Lato"/>
              </a:rPr>
              <a:t>The imbalance is small per square metre. The planet is not.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2646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57A"/>
                </a:solidFill>
                <a:latin typeface="Lato"/>
              </a:rPr>
              <a:t>A persistent surplus accumulates across Earth’s entire surface.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63072" cy="8229"/>
          </a:xfrm>
          <a:prstGeom prst="rect">
            <a:avLst/>
          </a:prstGeom>
          <a:solidFill>
            <a:srgbClr val="D7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83680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spc="35">
                <a:solidFill>
                  <a:srgbClr val="65757A"/>
                </a:solidFill>
                <a:latin typeface="Lato"/>
              </a:rPr>
              <a:t>EARTH SYSTEM SCIENCE  /  IPCC AR6 WG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757A"/>
                </a:solidFill>
                <a:latin typeface="Lato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1938528"/>
            <a:ext cx="3246120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" y="1938528"/>
            <a:ext cx="64008" cy="1133856"/>
          </a:xfrm>
          <a:prstGeom prst="rect">
            <a:avLst/>
          </a:prstGeom>
          <a:solidFill>
            <a:srgbClr val="B64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2898648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B64E36"/>
                </a:solidFill>
                <a:latin typeface="Lato"/>
              </a:rPr>
              <a:t>0.57 W/m²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569464"/>
            <a:ext cx="2880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B35"/>
                </a:solidFill>
                <a:latin typeface="Lato"/>
              </a:rPr>
              <a:t>1971–2018 mean imbalance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798064"/>
            <a:ext cx="2880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57A"/>
                </a:solidFill>
                <a:latin typeface="Lato"/>
              </a:rPr>
              <a:t>Likely range: 0.43–0.72 W/m²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71416" y="1938528"/>
            <a:ext cx="3246120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71416" y="1938528"/>
            <a:ext cx="64008" cy="1133856"/>
          </a:xfrm>
          <a:prstGeom prst="rect">
            <a:avLst/>
          </a:prstGeom>
          <a:solidFill>
            <a:srgbClr val="B64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2583" y="2084832"/>
            <a:ext cx="2898648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B64E36"/>
                </a:solidFill>
                <a:latin typeface="Lato"/>
              </a:rPr>
              <a:t>0.79 W/m²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569464"/>
            <a:ext cx="2880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B35"/>
                </a:solidFill>
                <a:latin typeface="Lato"/>
              </a:rPr>
              <a:t>2006–2018 mean imbalance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798064"/>
            <a:ext cx="2880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57A"/>
                </a:solidFill>
                <a:latin typeface="Lato"/>
              </a:rPr>
              <a:t>Likely range: 0.52–1.06 W/m²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74736" y="1938528"/>
            <a:ext cx="3246120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74736" y="1938528"/>
            <a:ext cx="64008" cy="1133856"/>
          </a:xfrm>
          <a:prstGeom prst="rect">
            <a:avLst/>
          </a:prstGeom>
          <a:solidFill>
            <a:srgbClr val="3D7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904" y="2084832"/>
            <a:ext cx="2898648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D7775"/>
                </a:solidFill>
                <a:latin typeface="Lato"/>
              </a:rPr>
              <a:t>~20×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569464"/>
            <a:ext cx="2880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B35"/>
                </a:solidFill>
                <a:latin typeface="Lato"/>
              </a:rPr>
              <a:t>2018 human energy 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2798064"/>
            <a:ext cx="2880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57A"/>
                </a:solidFill>
                <a:latin typeface="Lato"/>
              </a:rPr>
              <a:t>Equivalent rate of Earth-system heating</a:t>
            </a:r>
          </a:p>
        </p:txBody>
      </p:sp>
      <p:sp>
        <p:nvSpPr>
          <p:cNvPr id="23" name="Oval 22"/>
          <p:cNvSpPr/>
          <p:nvPr/>
        </p:nvSpPr>
        <p:spPr>
          <a:xfrm>
            <a:off x="932688" y="3803904"/>
            <a:ext cx="393192" cy="393192"/>
          </a:xfrm>
          <a:prstGeom prst="ellipse">
            <a:avLst/>
          </a:prstGeom>
          <a:solidFill>
            <a:srgbClr val="263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904487"/>
            <a:ext cx="3931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Lato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9616" y="3776472"/>
            <a:ext cx="21031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2B35"/>
                </a:solidFill>
                <a:latin typeface="Lato"/>
              </a:rPr>
              <a:t>Forcing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9616" y="4133087"/>
            <a:ext cx="23317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5757A"/>
                </a:solidFill>
                <a:latin typeface="Lato"/>
              </a:rPr>
              <a:t>More energy enters than leaves.</a:t>
            </a:r>
          </a:p>
        </p:txBody>
      </p:sp>
      <p:sp>
        <p:nvSpPr>
          <p:cNvPr id="27" name="Oval 26"/>
          <p:cNvSpPr/>
          <p:nvPr/>
        </p:nvSpPr>
        <p:spPr>
          <a:xfrm>
            <a:off x="4407408" y="3803904"/>
            <a:ext cx="393192" cy="393192"/>
          </a:xfrm>
          <a:prstGeom prst="ellipse">
            <a:avLst/>
          </a:prstGeom>
          <a:solidFill>
            <a:srgbClr val="263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7408" y="3904487"/>
            <a:ext cx="3931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Lato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74336" y="3776472"/>
            <a:ext cx="21031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2B35"/>
                </a:solidFill>
                <a:latin typeface="Lato"/>
              </a:rPr>
              <a:t>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74336" y="4133087"/>
            <a:ext cx="23317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5757A"/>
                </a:solidFill>
                <a:latin typeface="Lato"/>
              </a:rPr>
              <a:t>The climate system retains the surplus.</a:t>
            </a:r>
          </a:p>
        </p:txBody>
      </p:sp>
      <p:sp>
        <p:nvSpPr>
          <p:cNvPr id="31" name="Oval 30"/>
          <p:cNvSpPr/>
          <p:nvPr/>
        </p:nvSpPr>
        <p:spPr>
          <a:xfrm>
            <a:off x="7882127" y="3803904"/>
            <a:ext cx="393192" cy="393192"/>
          </a:xfrm>
          <a:prstGeom prst="ellipse">
            <a:avLst/>
          </a:prstGeom>
          <a:solidFill>
            <a:srgbClr val="263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82127" y="3904487"/>
            <a:ext cx="3931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Lato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5" y="3776472"/>
            <a:ext cx="21031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2B35"/>
                </a:solidFill>
                <a:latin typeface="Lato"/>
              </a:rPr>
              <a:t>Response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9055" y="4133087"/>
            <a:ext cx="23317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5757A"/>
                </a:solidFill>
                <a:latin typeface="Lato"/>
              </a:rPr>
              <a:t>Warming and ice loss redistribute it.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154680" y="4005072"/>
            <a:ext cx="1033272" cy="0"/>
          </a:xfrm>
          <a:prstGeom prst="line">
            <a:avLst/>
          </a:prstGeom>
          <a:ln w="25400">
            <a:solidFill>
              <a:srgbClr val="D7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638544" y="4005072"/>
            <a:ext cx="1014983" cy="0"/>
          </a:xfrm>
          <a:prstGeom prst="line">
            <a:avLst/>
          </a:prstGeom>
          <a:ln w="25400">
            <a:solidFill>
              <a:srgbClr val="D7D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768096" y="5266944"/>
            <a:ext cx="10652760" cy="566928"/>
          </a:xfrm>
          <a:prstGeom prst="rect">
            <a:avLst/>
          </a:prstGeom>
          <a:solidFill>
            <a:srgbClr val="F1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5449824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64E36"/>
                </a:solidFill>
                <a:latin typeface="Lato"/>
              </a:rPr>
              <a:t>Reading the scale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78024" y="5404104"/>
            <a:ext cx="8458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B35"/>
                </a:solidFill>
                <a:latin typeface="Lato"/>
              </a:rPr>
              <a:t>A few tenths of a watt sustained over decades adds up to hundreds of zettajoules.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B64E36"/>
                </a:solidFill>
                <a:latin typeface="Lato"/>
              </a:rPr>
              <a:t>02 / WHERE THE HEAT GOES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356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B35"/>
                </a:solidFill>
                <a:latin typeface="Lato"/>
              </a:rPr>
              <a:t>The ocean is Earth’s dominant heat reservoir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63072" cy="8229"/>
          </a:xfrm>
          <a:prstGeom prst="rect">
            <a:avLst/>
          </a:prstGeom>
          <a:solidFill>
            <a:srgbClr val="D7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83680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spc="35">
                <a:solidFill>
                  <a:srgbClr val="65757A"/>
                </a:solidFill>
                <a:latin typeface="Lato"/>
              </a:rPr>
              <a:t>EARTH SYSTEM SCIENCE  /  IPCC AR6 WG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757A"/>
                </a:solidFill>
                <a:latin typeface="Lato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719072"/>
            <a:ext cx="5166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B64E36"/>
                </a:solidFill>
                <a:latin typeface="Lato"/>
              </a:rPr>
              <a:t>91%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59152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57A"/>
                </a:solidFill>
                <a:latin typeface="Lato"/>
              </a:rPr>
              <a:t>of observed energy gain went into the ocean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452628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B35"/>
                </a:solidFill>
                <a:latin typeface="Lato"/>
              </a:rPr>
              <a:t>The ocean is not a side effect. It is the main ledger.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89120"/>
            <a:ext cx="44805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5757A"/>
                </a:solidFill>
                <a:latin typeface="Lato"/>
              </a:rPr>
              <a:t>A compact reading of the assessed inventory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4608576"/>
            <a:ext cx="5303520" cy="10972"/>
          </a:xfrm>
          <a:prstGeom prst="rect">
            <a:avLst/>
          </a:prstGeom>
          <a:solidFill>
            <a:srgbClr val="D7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1874519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5757A"/>
                </a:solidFill>
                <a:latin typeface="Lato"/>
              </a:rPr>
              <a:t>Ocean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0296" y="1883663"/>
            <a:ext cx="3977639" cy="228600"/>
          </a:xfrm>
          <a:prstGeom prst="rect">
            <a:avLst/>
          </a:prstGeom>
          <a:solidFill>
            <a:srgbClr val="E9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40296" y="1883663"/>
            <a:ext cx="3683000" cy="228600"/>
          </a:xfrm>
          <a:prstGeom prst="rect">
            <a:avLst/>
          </a:prstGeom>
          <a:solidFill>
            <a:srgbClr val="3D7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6447" y="1856231"/>
            <a:ext cx="67665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B35"/>
                </a:solidFill>
                <a:latin typeface="Lato"/>
              </a:rPr>
              <a:t>91%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532887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5757A"/>
                </a:solidFill>
                <a:latin typeface="Lato"/>
              </a:rPr>
              <a:t>Land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0296" y="2542031"/>
            <a:ext cx="3977639" cy="228600"/>
          </a:xfrm>
          <a:prstGeom prst="rect">
            <a:avLst/>
          </a:prstGeom>
          <a:solidFill>
            <a:srgbClr val="E9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0296" y="2542031"/>
            <a:ext cx="202362" cy="228600"/>
          </a:xfrm>
          <a:prstGeom prst="rect">
            <a:avLst/>
          </a:prstGeom>
          <a:solidFill>
            <a:srgbClr val="D2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15810" y="2514599"/>
            <a:ext cx="67665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B35"/>
                </a:solidFill>
                <a:latin typeface="Lato"/>
              </a:rPr>
              <a:t>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3191256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5757A"/>
                </a:solidFill>
                <a:latin typeface="Lato"/>
              </a:rPr>
              <a:t>Cryosphere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0296" y="3200399"/>
            <a:ext cx="3977639" cy="228600"/>
          </a:xfrm>
          <a:prstGeom prst="rect">
            <a:avLst/>
          </a:prstGeom>
          <a:solidFill>
            <a:srgbClr val="E9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40296" y="3200399"/>
            <a:ext cx="121417" cy="228600"/>
          </a:xfrm>
          <a:prstGeom prst="rect">
            <a:avLst/>
          </a:prstGeom>
          <a:solidFill>
            <a:srgbClr val="D2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4865" y="3172968"/>
            <a:ext cx="67665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B35"/>
                </a:solidFill>
                <a:latin typeface="Lato"/>
              </a:rPr>
              <a:t>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849624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5757A"/>
                </a:solidFill>
                <a:latin typeface="Lato"/>
              </a:rPr>
              <a:t>Atmosphere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0296" y="3858768"/>
            <a:ext cx="3977639" cy="228600"/>
          </a:xfrm>
          <a:prstGeom prst="rect">
            <a:avLst/>
          </a:prstGeom>
          <a:solidFill>
            <a:srgbClr val="E9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40296" y="3858768"/>
            <a:ext cx="40472" cy="228600"/>
          </a:xfrm>
          <a:prstGeom prst="rect">
            <a:avLst/>
          </a:prstGeom>
          <a:solidFill>
            <a:srgbClr val="D2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53920" y="3831336"/>
            <a:ext cx="67665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B35"/>
                </a:solidFill>
                <a:latin typeface="Lato"/>
              </a:rPr>
              <a:t>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0296" y="1764791"/>
            <a:ext cx="7315" cy="3355848"/>
          </a:xfrm>
          <a:prstGeom prst="rect">
            <a:avLst/>
          </a:prstGeom>
          <a:solidFill>
            <a:srgbClr val="E5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48856" y="4709159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57A"/>
                </a:solidFill>
                <a:latin typeface="Lato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34706" y="1764791"/>
            <a:ext cx="7315" cy="3355848"/>
          </a:xfrm>
          <a:prstGeom prst="rect">
            <a:avLst/>
          </a:prstGeom>
          <a:solidFill>
            <a:srgbClr val="E5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43266" y="4709159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57A"/>
                </a:solidFill>
                <a:latin typeface="Lato"/>
              </a:rPr>
              <a:t>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29116" y="1764791"/>
            <a:ext cx="7315" cy="3355848"/>
          </a:xfrm>
          <a:prstGeom prst="rect">
            <a:avLst/>
          </a:prstGeom>
          <a:solidFill>
            <a:srgbClr val="E5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37676" y="4709159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57A"/>
                </a:solidFill>
                <a:latin typeface="Lato"/>
              </a:rPr>
              <a:t>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23526" y="1764791"/>
            <a:ext cx="7315" cy="3355848"/>
          </a:xfrm>
          <a:prstGeom prst="rect">
            <a:avLst/>
          </a:prstGeom>
          <a:solidFill>
            <a:srgbClr val="E5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32086" y="4709159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57A"/>
                </a:solidFill>
                <a:latin typeface="Lato"/>
              </a:rPr>
              <a:t>75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17936" y="1764791"/>
            <a:ext cx="7315" cy="3355848"/>
          </a:xfrm>
          <a:prstGeom prst="rect">
            <a:avLst/>
          </a:prstGeom>
          <a:solidFill>
            <a:srgbClr val="E5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26496" y="4709159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57A"/>
                </a:solidFill>
                <a:latin typeface="Lato"/>
              </a:rPr>
              <a:t>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0296" y="562356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5757A"/>
                </a:solidFill>
                <a:latin typeface="Lato"/>
              </a:rPr>
              <a:t>Share of total energy gain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815584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5757A"/>
                </a:solidFill>
                <a:latin typeface="Lato"/>
              </a:rPr>
              <a:t>IPCC AR6 WGI Ch. 7, Table 7.1: 1971–2018 energy inventory; shares rounded.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B64E36"/>
                </a:solidFill>
                <a:latin typeface="Lato"/>
              </a:rPr>
              <a:t>03 / CHECKING THE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356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B35"/>
                </a:solidFill>
                <a:latin typeface="Lato"/>
              </a:rPr>
              <a:t>Two ledgers. One consistent 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2646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57A"/>
                </a:solidFill>
                <a:latin typeface="Lato"/>
              </a:rPr>
              <a:t>AR6 WGI Ch. 7, Box 7.2; period 1971–2018 relative to pre-industrial.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63072" cy="8229"/>
          </a:xfrm>
          <a:prstGeom prst="rect">
            <a:avLst/>
          </a:prstGeom>
          <a:solidFill>
            <a:srgbClr val="D7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83680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spc="35">
                <a:solidFill>
                  <a:srgbClr val="65757A"/>
                </a:solidFill>
                <a:latin typeface="Lato"/>
              </a:rPr>
              <a:t>EARTH SYSTEM SCIENCE  /  IPCC AR6 WG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757A"/>
                </a:solidFill>
                <a:latin typeface="Lato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993392"/>
            <a:ext cx="5193792" cy="3081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993392"/>
            <a:ext cx="5193792" cy="91440"/>
          </a:xfrm>
          <a:prstGeom prst="rect">
            <a:avLst/>
          </a:prstGeom>
          <a:solidFill>
            <a:srgbClr val="3D7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67712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B35"/>
                </a:solidFill>
                <a:latin typeface="Lato"/>
              </a:rPr>
              <a:t>Independent observations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7" y="2916936"/>
            <a:ext cx="91440" cy="91440"/>
          </a:xfrm>
          <a:prstGeom prst="ellipse">
            <a:avLst/>
          </a:prstGeom>
          <a:solidFill>
            <a:srgbClr val="3D7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862072"/>
            <a:ext cx="4434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B35"/>
                </a:solidFill>
                <a:latin typeface="Lato"/>
              </a:rPr>
              <a:t>Ocean heat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145536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57A"/>
                </a:solidFill>
                <a:latin typeface="Lato"/>
              </a:rPr>
              <a:t>In situ profiles, increasingly comprehensive since Argo.</a:t>
            </a:r>
          </a:p>
        </p:txBody>
      </p:sp>
      <p:sp>
        <p:nvSpPr>
          <p:cNvPr id="14" name="Oval 13"/>
          <p:cNvSpPr/>
          <p:nvPr/>
        </p:nvSpPr>
        <p:spPr>
          <a:xfrm>
            <a:off x="1024127" y="3749039"/>
            <a:ext cx="91440" cy="91440"/>
          </a:xfrm>
          <a:prstGeom prst="ellipse">
            <a:avLst/>
          </a:prstGeom>
          <a:solidFill>
            <a:srgbClr val="3D7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694176"/>
            <a:ext cx="4434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B35"/>
                </a:solidFill>
                <a:latin typeface="Lato"/>
              </a:rPr>
              <a:t>Other reservoirs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977639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57A"/>
                </a:solidFill>
                <a:latin typeface="Lato"/>
              </a:rPr>
              <a:t>Land, atmosphere and cryosphere contributions added separately.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8" y="1993392"/>
            <a:ext cx="5193792" cy="3081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8" y="1993392"/>
            <a:ext cx="5193792" cy="91440"/>
          </a:xfrm>
          <a:prstGeom prst="rect">
            <a:avLst/>
          </a:prstGeom>
          <a:solidFill>
            <a:srgbClr val="B64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267712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B35"/>
                </a:solidFill>
                <a:latin typeface="Lato"/>
              </a:rPr>
              <a:t>Radiative accounting</a:t>
            </a:r>
          </a:p>
        </p:txBody>
      </p:sp>
      <p:sp>
        <p:nvSpPr>
          <p:cNvPr id="20" name="Oval 19"/>
          <p:cNvSpPr/>
          <p:nvPr/>
        </p:nvSpPr>
        <p:spPr>
          <a:xfrm>
            <a:off x="6510528" y="2916936"/>
            <a:ext cx="91440" cy="91440"/>
          </a:xfrm>
          <a:prstGeom prst="ellipse">
            <a:avLst/>
          </a:prstGeom>
          <a:solidFill>
            <a:srgbClr val="B64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862072"/>
            <a:ext cx="4434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B35"/>
                </a:solidFill>
                <a:latin typeface="Lato"/>
              </a:rPr>
              <a:t>Forcing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145536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57A"/>
                </a:solidFill>
                <a:latin typeface="Lato"/>
              </a:rPr>
              <a:t>Greenhouse-gas energy input, partly offset by aerosols.</a:t>
            </a:r>
          </a:p>
        </p:txBody>
      </p:sp>
      <p:sp>
        <p:nvSpPr>
          <p:cNvPr id="23" name="Oval 22"/>
          <p:cNvSpPr/>
          <p:nvPr/>
        </p:nvSpPr>
        <p:spPr>
          <a:xfrm>
            <a:off x="6510528" y="3749039"/>
            <a:ext cx="91440" cy="91440"/>
          </a:xfrm>
          <a:prstGeom prst="ellipse">
            <a:avLst/>
          </a:prstGeom>
          <a:solidFill>
            <a:srgbClr val="B64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694176"/>
            <a:ext cx="4434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B35"/>
                </a:solidFill>
                <a:latin typeface="Lato"/>
              </a:rPr>
              <a:t>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977639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57A"/>
                </a:solidFill>
                <a:latin typeface="Lato"/>
              </a:rPr>
              <a:t>Warming-driven radiation back to space reduces the surplus.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5330952"/>
            <a:ext cx="10680192" cy="630936"/>
          </a:xfrm>
          <a:prstGeom prst="rect">
            <a:avLst/>
          </a:prstGeom>
          <a:solidFill>
            <a:srgbClr val="263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552297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D2A451"/>
                </a:solidFill>
                <a:latin typeface="Lato"/>
              </a:rPr>
              <a:t>SO WHAT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477256"/>
            <a:ext cx="9098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Lato"/>
              </a:rPr>
              <a:t>Observed heat gain (284 ZJ) sits within forcing–response estimates: the global budget closes within uncertainty.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B64E36"/>
                </a:solidFill>
                <a:latin typeface="Lato"/>
              </a:rPr>
              <a:t>04 / THE PHYSICS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356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B35"/>
                </a:solidFill>
                <a:latin typeface="Lato"/>
              </a:rPr>
              <a:t>Why a forcing is not the same thing as warming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2646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57A"/>
                </a:solidFill>
                <a:latin typeface="Lato"/>
              </a:rPr>
              <a:t>AR6 separates the imposed energy perturbation from the temperature-driven response.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63072" cy="8229"/>
          </a:xfrm>
          <a:prstGeom prst="rect">
            <a:avLst/>
          </a:prstGeom>
          <a:solidFill>
            <a:srgbClr val="D7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83680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spc="35">
                <a:solidFill>
                  <a:srgbClr val="65757A"/>
                </a:solidFill>
                <a:latin typeface="Lato"/>
              </a:rPr>
              <a:t>EARTH SYSTEM SCIENCE  /  IPCC AR6 WG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757A"/>
                </a:solidFill>
                <a:latin typeface="Lato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2029968"/>
            <a:ext cx="4617720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D7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2276856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3D7775"/>
                </a:solidFill>
                <a:latin typeface="Lato"/>
              </a:rPr>
              <a:t>ENERGY-BUDGET RELATIONSHIP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11480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63E49"/>
                </a:solidFill>
                <a:latin typeface="Lato"/>
              </a:rPr>
              <a:t>ΔN = ΔF + αΔT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364992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5757A"/>
                </a:solidFill>
                <a:latin typeface="Lato"/>
              </a:rPr>
              <a:t>Net energy imbalance  =  forcing  +  feedback × temperature change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42432" y="2029968"/>
            <a:ext cx="5650992" cy="1874519"/>
          </a:xfrm>
          <a:prstGeom prst="rect">
            <a:avLst/>
          </a:prstGeom>
          <a:solidFill>
            <a:srgbClr val="263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2359152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2A451"/>
                </a:solidFill>
                <a:latin typeface="Lato"/>
              </a:rPr>
              <a:t>2×CO₂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359152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Lato"/>
              </a:rPr>
              <a:t>3.93 ± 0.47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34072" y="2852928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D3"/>
                </a:solidFill>
                <a:latin typeface="Lato"/>
              </a:rPr>
              <a:t>W m⁻² effective radiative forcing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3310128"/>
            <a:ext cx="4754880" cy="10972"/>
          </a:xfrm>
          <a:prstGeom prst="rect">
            <a:avLst/>
          </a:prstGeom>
          <a:solidFill>
            <a:srgbClr val="55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3456432"/>
            <a:ext cx="4791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6DFDC"/>
                </a:solidFill>
                <a:latin typeface="Lato"/>
              </a:rPr>
              <a:t>A forcing is the initial push; feedbacks alter the system’s radiative response as it warms.</a:t>
            </a:r>
          </a:p>
        </p:txBody>
      </p:sp>
      <p:sp>
        <p:nvSpPr>
          <p:cNvPr id="18" name="Oval 17"/>
          <p:cNvSpPr/>
          <p:nvPr/>
        </p:nvSpPr>
        <p:spPr>
          <a:xfrm>
            <a:off x="941832" y="4517136"/>
            <a:ext cx="91440" cy="91440"/>
          </a:xfrm>
          <a:prstGeom prst="ellipse">
            <a:avLst/>
          </a:prstGeom>
          <a:solidFill>
            <a:srgbClr val="3D7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4425696"/>
            <a:ext cx="4709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B35"/>
                </a:solidFill>
                <a:latin typeface="Lato"/>
              </a:rPr>
              <a:t>A warmer planet emits more longwave energy to space: a stabilizing response.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4782312"/>
            <a:ext cx="468172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57A"/>
                </a:solidFill>
                <a:latin typeface="Lato"/>
              </a:rPr>
              <a:t>Other feedbacks—including water vapour, surface albedo and clouds—modify how much warming is needed to restore balance.</a:t>
            </a:r>
          </a:p>
        </p:txBody>
      </p:sp>
      <p:sp>
        <p:nvSpPr>
          <p:cNvPr id="21" name="Oval 20"/>
          <p:cNvSpPr/>
          <p:nvPr/>
        </p:nvSpPr>
        <p:spPr>
          <a:xfrm>
            <a:off x="6144768" y="4517136"/>
            <a:ext cx="91440" cy="91440"/>
          </a:xfrm>
          <a:prstGeom prst="ellipse">
            <a:avLst/>
          </a:prstGeom>
          <a:solidFill>
            <a:srgbClr val="B64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4425696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B35"/>
                </a:solidFill>
                <a:latin typeface="Lato"/>
              </a:rPr>
              <a:t>The uncertainty is not evenly distributed.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4782312"/>
            <a:ext cx="445312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57A"/>
                </a:solidFill>
                <a:latin typeface="Lato"/>
              </a:rPr>
              <a:t>Cloud feedback remains the largest contributor to uncertainty in climate sensitivity; AR6 assesses its net effect as positive.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5980176"/>
            <a:ext cx="9875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5757A"/>
                </a:solidFill>
                <a:latin typeface="Lato"/>
              </a:rPr>
              <a:t>AR6 WGI Ch. 7, Box 7.1 and Sections 7.3–7.5. ERF is not a temperature forecast.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B64E36"/>
                </a:solidFill>
                <a:latin typeface="Lato"/>
              </a:rPr>
              <a:t>05 / INTERPRETING UNCERTAINTY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356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B35"/>
                </a:solidFill>
                <a:latin typeface="Lato"/>
              </a:rPr>
              <a:t>A high confidence signal can coexist with uncertain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2646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57A"/>
                </a:solidFill>
                <a:latin typeface="Lato"/>
              </a:rPr>
              <a:t>IPCC AR6 WGI Ch. 7, §§7.2, 7.4 and 7.5; confidence language retained in substance.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63072" cy="8229"/>
          </a:xfrm>
          <a:prstGeom prst="rect">
            <a:avLst/>
          </a:prstGeom>
          <a:solidFill>
            <a:srgbClr val="D7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83680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spc="35">
                <a:solidFill>
                  <a:srgbClr val="65757A"/>
                </a:solidFill>
                <a:latin typeface="Lato"/>
              </a:rPr>
              <a:t>EARTH SYSTEM SCIENCE  /  IPCC AR6 WG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757A"/>
                </a:solidFill>
                <a:latin typeface="Lato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993392"/>
            <a:ext cx="5193792" cy="3081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993392"/>
            <a:ext cx="5193792" cy="91440"/>
          </a:xfrm>
          <a:prstGeom prst="rect">
            <a:avLst/>
          </a:prstGeom>
          <a:solidFill>
            <a:srgbClr val="3D7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67712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B35"/>
                </a:solidFill>
                <a:latin typeface="Lato"/>
              </a:rPr>
              <a:t>Well constrained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7" y="2916936"/>
            <a:ext cx="91440" cy="91440"/>
          </a:xfrm>
          <a:prstGeom prst="ellipse">
            <a:avLst/>
          </a:prstGeom>
          <a:solidFill>
            <a:srgbClr val="3D7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862072"/>
            <a:ext cx="4434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B35"/>
                </a:solidFill>
                <a:latin typeface="Lato"/>
              </a:rPr>
              <a:t>Energy imbalance is positive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145536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57A"/>
                </a:solidFill>
                <a:latin typeface="Lato"/>
              </a:rPr>
              <a:t>Multiple observation streams track Earth’s energy gain.</a:t>
            </a:r>
          </a:p>
        </p:txBody>
      </p:sp>
      <p:sp>
        <p:nvSpPr>
          <p:cNvPr id="14" name="Oval 13"/>
          <p:cNvSpPr/>
          <p:nvPr/>
        </p:nvSpPr>
        <p:spPr>
          <a:xfrm>
            <a:off x="1024127" y="3749039"/>
            <a:ext cx="91440" cy="91440"/>
          </a:xfrm>
          <a:prstGeom prst="ellipse">
            <a:avLst/>
          </a:prstGeom>
          <a:solidFill>
            <a:srgbClr val="3D7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694176"/>
            <a:ext cx="4434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B35"/>
                </a:solidFill>
                <a:latin typeface="Lato"/>
              </a:rPr>
              <a:t>Ocean share dominates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977639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57A"/>
                </a:solidFill>
                <a:latin typeface="Lato"/>
              </a:rPr>
              <a:t>About 91% of the 1971–2018 gain is ocean heat uptake.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8" y="1993392"/>
            <a:ext cx="5193792" cy="3081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8" y="1993392"/>
            <a:ext cx="5193792" cy="91440"/>
          </a:xfrm>
          <a:prstGeom prst="rect">
            <a:avLst/>
          </a:prstGeom>
          <a:solidFill>
            <a:srgbClr val="B64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267712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B35"/>
                </a:solidFill>
                <a:latin typeface="Lato"/>
              </a:rPr>
              <a:t>Still uncertain</a:t>
            </a:r>
          </a:p>
        </p:txBody>
      </p:sp>
      <p:sp>
        <p:nvSpPr>
          <p:cNvPr id="20" name="Oval 19"/>
          <p:cNvSpPr/>
          <p:nvPr/>
        </p:nvSpPr>
        <p:spPr>
          <a:xfrm>
            <a:off x="6510528" y="2916936"/>
            <a:ext cx="91440" cy="91440"/>
          </a:xfrm>
          <a:prstGeom prst="ellipse">
            <a:avLst/>
          </a:prstGeom>
          <a:solidFill>
            <a:srgbClr val="B64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862072"/>
            <a:ext cx="4434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B35"/>
                </a:solidFill>
                <a:latin typeface="Lato"/>
              </a:rPr>
              <a:t>Cloud feedback magnitude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145536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57A"/>
                </a:solidFill>
                <a:latin typeface="Lato"/>
              </a:rPr>
              <a:t>Cloud processes operate across scales; model spread remains.</a:t>
            </a:r>
          </a:p>
        </p:txBody>
      </p:sp>
      <p:sp>
        <p:nvSpPr>
          <p:cNvPr id="23" name="Oval 22"/>
          <p:cNvSpPr/>
          <p:nvPr/>
        </p:nvSpPr>
        <p:spPr>
          <a:xfrm>
            <a:off x="6510528" y="3749039"/>
            <a:ext cx="91440" cy="91440"/>
          </a:xfrm>
          <a:prstGeom prst="ellipse">
            <a:avLst/>
          </a:prstGeom>
          <a:solidFill>
            <a:srgbClr val="B64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694176"/>
            <a:ext cx="4434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B35"/>
                </a:solidFill>
                <a:latin typeface="Lato"/>
              </a:rPr>
              <a:t>Regional distribution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977639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57A"/>
                </a:solidFill>
                <a:latin typeface="Lato"/>
              </a:rPr>
              <a:t>Global averages conceal strongly uneven impacts and exposure.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5330952"/>
            <a:ext cx="10680192" cy="630936"/>
          </a:xfrm>
          <a:prstGeom prst="rect">
            <a:avLst/>
          </a:prstGeom>
          <a:solidFill>
            <a:srgbClr val="263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552297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D2A451"/>
                </a:solidFill>
                <a:latin typeface="Lato"/>
              </a:rPr>
              <a:t>SO WHAT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477256"/>
            <a:ext cx="9098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Lato"/>
              </a:rPr>
              <a:t>Keep the robust headline; show uncertainty where it changes interpretation—not as decorative error bars.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B64E36"/>
                </a:solidFill>
                <a:latin typeface="Lato"/>
              </a:rPr>
              <a:t>06 /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356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B35"/>
                </a:solidFill>
                <a:latin typeface="Lato"/>
              </a:rPr>
              <a:t>A useful mental model for decision-makers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2646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57A"/>
                </a:solidFill>
                <a:latin typeface="Lato"/>
              </a:rPr>
              <a:t>Think of climate change as a stock-and-flow problem with a very large, slow reservoir.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63072" cy="8229"/>
          </a:xfrm>
          <a:prstGeom prst="rect">
            <a:avLst/>
          </a:prstGeom>
          <a:solidFill>
            <a:srgbClr val="D7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83680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spc="35">
                <a:solidFill>
                  <a:srgbClr val="65757A"/>
                </a:solidFill>
                <a:latin typeface="Lato"/>
              </a:rPr>
              <a:t>EARTH SYSTEM SCIENCE  /  IPCC AR6 WG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757A"/>
                </a:solidFill>
                <a:latin typeface="Lato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05740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B64E36"/>
                </a:solidFill>
                <a:latin typeface="Lato"/>
              </a:rPr>
              <a:t>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441448"/>
            <a:ext cx="2852928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B35"/>
                </a:solidFill>
                <a:latin typeface="Lato"/>
              </a:rPr>
              <a:t>Human forcing adds energy to the climate 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3456432"/>
            <a:ext cx="281635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5757A"/>
                </a:solidFill>
                <a:latin typeface="Lato"/>
              </a:rPr>
              <a:t>The sign is clear; the exact magnitude depends on multiple forcing agents.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22191" y="2944368"/>
            <a:ext cx="539497" cy="0"/>
          </a:xfrm>
          <a:prstGeom prst="line">
            <a:avLst/>
          </a:prstGeom>
          <a:ln w="25400">
            <a:solidFill>
              <a:srgbClr val="AAB4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498848" y="2148840"/>
            <a:ext cx="2331720" cy="1874519"/>
          </a:xfrm>
          <a:prstGeom prst="ellipse">
            <a:avLst/>
          </a:prstGeom>
          <a:solidFill>
            <a:srgbClr val="DF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37176" y="2551176"/>
            <a:ext cx="162763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3D7775"/>
                </a:solidFill>
                <a:latin typeface="Lato"/>
              </a:rPr>
              <a:t>91%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3209544"/>
            <a:ext cx="17922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3E49"/>
                </a:solidFill>
                <a:latin typeface="Lato"/>
              </a:rPr>
              <a:t>OCEAN HEAT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40880" y="2944368"/>
            <a:ext cx="502920" cy="0"/>
          </a:xfrm>
          <a:prstGeom prst="line">
            <a:avLst/>
          </a:prstGeom>
          <a:ln w="25400">
            <a:solidFill>
              <a:srgbClr val="AAB4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99831" y="205740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B64E36"/>
                </a:solidFill>
                <a:latin typeface="Lato"/>
              </a:rPr>
              <a:t>LAG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9831" y="2441448"/>
            <a:ext cx="315468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B35"/>
                </a:solidFill>
                <a:latin typeface="Lato"/>
              </a:rPr>
              <a:t>The ocean absorbs most of the surplus—and releases it slowly.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9831" y="3456432"/>
            <a:ext cx="307238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5757A"/>
                </a:solidFill>
                <a:latin typeface="Lato"/>
              </a:rPr>
              <a:t>This is why surface temperature alone does not describe the full energy story.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" y="4700016"/>
            <a:ext cx="10469880" cy="13716"/>
          </a:xfrm>
          <a:prstGeom prst="rect">
            <a:avLst/>
          </a:prstGeom>
          <a:solidFill>
            <a:srgbClr val="D7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" y="5047488"/>
            <a:ext cx="13258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64E36"/>
                </a:solidFill>
                <a:latin typeface="Lato"/>
              </a:rPr>
              <a:t>So what?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58568" y="4992624"/>
            <a:ext cx="874166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2B35"/>
                </a:solidFill>
                <a:latin typeface="Lato"/>
              </a:rPr>
              <a:t>Track the energy inventory alongside temperature. It gives a steadier view of the system’s long-term trajectory.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5879592"/>
            <a:ext cx="99669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5757A"/>
                </a:solidFill>
                <a:latin typeface="Lato"/>
              </a:rPr>
              <a:t>The 91% share is an observed global mean for 1971–2018, not a claim about every region or every year.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B64E36"/>
                </a:solidFill>
                <a:latin typeface="Lato"/>
              </a:rPr>
              <a:t>07 / AVOID THE COMMON MISREAD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356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B35"/>
                </a:solidFill>
                <a:latin typeface="Lato"/>
              </a:rPr>
              <a:t>Close with the distinction that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2646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57A"/>
                </a:solidFill>
                <a:latin typeface="Lato"/>
              </a:rPr>
              <a:t>Synthesis of IPCC AR6 WGI Ch. 7 §§7.2, 7.3 and 7.5.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63072" cy="8229"/>
          </a:xfrm>
          <a:prstGeom prst="rect">
            <a:avLst/>
          </a:prstGeom>
          <a:solidFill>
            <a:srgbClr val="D7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83680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spc="35">
                <a:solidFill>
                  <a:srgbClr val="65757A"/>
                </a:solidFill>
                <a:latin typeface="Lato"/>
              </a:rPr>
              <a:t>EARTH SYSTEM SCIENCE  /  IPCC AR6 WG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757A"/>
                </a:solidFill>
                <a:latin typeface="Lato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993392"/>
            <a:ext cx="5193792" cy="3081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993392"/>
            <a:ext cx="5193792" cy="91440"/>
          </a:xfrm>
          <a:prstGeom prst="rect">
            <a:avLst/>
          </a:prstGeom>
          <a:solidFill>
            <a:srgbClr val="3D7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67712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B35"/>
                </a:solidFill>
                <a:latin typeface="Lato"/>
              </a:rPr>
              <a:t>What the measure tells us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7" y="2916936"/>
            <a:ext cx="91440" cy="91440"/>
          </a:xfrm>
          <a:prstGeom prst="ellipse">
            <a:avLst/>
          </a:prstGeom>
          <a:solidFill>
            <a:srgbClr val="3D7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862072"/>
            <a:ext cx="4434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B35"/>
                </a:solidFill>
                <a:latin typeface="Lato"/>
              </a:rPr>
              <a:t>Energy imbalance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145536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57A"/>
                </a:solidFill>
                <a:latin typeface="Lato"/>
              </a:rPr>
              <a:t>How rapidly energy is accumulating in the Earth system.</a:t>
            </a:r>
          </a:p>
        </p:txBody>
      </p:sp>
      <p:sp>
        <p:nvSpPr>
          <p:cNvPr id="14" name="Oval 13"/>
          <p:cNvSpPr/>
          <p:nvPr/>
        </p:nvSpPr>
        <p:spPr>
          <a:xfrm>
            <a:off x="1024127" y="3749039"/>
            <a:ext cx="91440" cy="91440"/>
          </a:xfrm>
          <a:prstGeom prst="ellipse">
            <a:avLst/>
          </a:prstGeom>
          <a:solidFill>
            <a:srgbClr val="3D7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694176"/>
            <a:ext cx="4434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B35"/>
                </a:solidFill>
                <a:latin typeface="Lato"/>
              </a:rPr>
              <a:t>Temperature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977639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57A"/>
                </a:solidFill>
                <a:latin typeface="Lato"/>
              </a:rPr>
              <a:t>A consequential response, but one with more short-term variability.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8" y="1993392"/>
            <a:ext cx="5193792" cy="3081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8" y="1993392"/>
            <a:ext cx="5193792" cy="91440"/>
          </a:xfrm>
          <a:prstGeom prst="rect">
            <a:avLst/>
          </a:prstGeom>
          <a:solidFill>
            <a:srgbClr val="B64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267712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2B35"/>
                </a:solidFill>
                <a:latin typeface="Lato"/>
              </a:rPr>
              <a:t>What it does not tell us</a:t>
            </a:r>
          </a:p>
        </p:txBody>
      </p:sp>
      <p:sp>
        <p:nvSpPr>
          <p:cNvPr id="20" name="Oval 19"/>
          <p:cNvSpPr/>
          <p:nvPr/>
        </p:nvSpPr>
        <p:spPr>
          <a:xfrm>
            <a:off x="6510528" y="2916936"/>
            <a:ext cx="91440" cy="91440"/>
          </a:xfrm>
          <a:prstGeom prst="ellipse">
            <a:avLst/>
          </a:prstGeom>
          <a:solidFill>
            <a:srgbClr val="B64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862072"/>
            <a:ext cx="4434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B35"/>
                </a:solidFill>
                <a:latin typeface="Lato"/>
              </a:rPr>
              <a:t>Not a local forecast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145536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57A"/>
                </a:solidFill>
                <a:latin typeface="Lato"/>
              </a:rPr>
              <a:t>Global means do not specify local hazards or timing.</a:t>
            </a:r>
          </a:p>
        </p:txBody>
      </p:sp>
      <p:sp>
        <p:nvSpPr>
          <p:cNvPr id="23" name="Oval 22"/>
          <p:cNvSpPr/>
          <p:nvPr/>
        </p:nvSpPr>
        <p:spPr>
          <a:xfrm>
            <a:off x="6510528" y="3749039"/>
            <a:ext cx="91440" cy="91440"/>
          </a:xfrm>
          <a:prstGeom prst="ellipse">
            <a:avLst/>
          </a:prstGeom>
          <a:solidFill>
            <a:srgbClr val="B64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694176"/>
            <a:ext cx="4434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B35"/>
                </a:solidFill>
                <a:latin typeface="Lato"/>
              </a:rPr>
              <a:t>Not a single 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977639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57A"/>
                </a:solidFill>
                <a:latin typeface="Lato"/>
              </a:rPr>
              <a:t>Forcing, feedback and internal variability all shape outcomes.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5330952"/>
            <a:ext cx="10680192" cy="630936"/>
          </a:xfrm>
          <a:prstGeom prst="rect">
            <a:avLst/>
          </a:prstGeom>
          <a:solidFill>
            <a:srgbClr val="263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552297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D2A451"/>
                </a:solidFill>
                <a:latin typeface="Lato"/>
              </a:rPr>
              <a:t>SO WHAT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477256"/>
            <a:ext cx="9098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Lato"/>
              </a:rPr>
              <a:t>The most credible briefings separate the signal, the mechanism and the uncertainty—then cite the evidence.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B64E36"/>
                </a:solidFill>
                <a:latin typeface="Lato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356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B35"/>
                </a:solidFill>
                <a:latin typeface="Lato"/>
              </a:rPr>
              <a:t>Evidence &amp;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2646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5757A"/>
                </a:solidFill>
                <a:latin typeface="Lato"/>
              </a:rPr>
              <a:t>All figures are stated in the cited source; plotted shares are rounded from the assessment 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63072" cy="8229"/>
          </a:xfrm>
          <a:prstGeom prst="rect">
            <a:avLst/>
          </a:prstGeom>
          <a:solidFill>
            <a:srgbClr val="D7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83680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spc="35">
                <a:solidFill>
                  <a:srgbClr val="65757A"/>
                </a:solidFill>
                <a:latin typeface="Lato"/>
              </a:rPr>
              <a:t>EARTH SYSTEM SCIENCE  /  IPCC AR6 WG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562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757A"/>
                </a:solidFill>
                <a:latin typeface="Lato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901952"/>
            <a:ext cx="20848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64E36"/>
                </a:solidFill>
                <a:latin typeface="Lato"/>
              </a:rPr>
              <a:t>Primary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901952"/>
            <a:ext cx="8001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B35"/>
                </a:solidFill>
                <a:latin typeface="Lato"/>
              </a:rPr>
              <a:t>IPCC (2021). Climate Change 2021: The Physical Science Basis. WGI, Chapter 7: The Earth’s Energy Budget, Climate Feedbacks, and Climate Sensitivity.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" y="2432304"/>
            <a:ext cx="10378440" cy="7315"/>
          </a:xfrm>
          <a:prstGeom prst="rect">
            <a:avLst/>
          </a:prstGeom>
          <a:solidFill>
            <a:srgbClr val="D7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542032"/>
            <a:ext cx="20848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64E36"/>
                </a:solidFill>
                <a:latin typeface="Lato"/>
              </a:rPr>
              <a:t>Energy 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542032"/>
            <a:ext cx="8001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B35"/>
                </a:solidFill>
                <a:latin typeface="Lato"/>
              </a:rPr>
              <a:t>IPCC AR6 WGI, Table 7.1. Global energy gain, 1971–2018: 434.9 ZJ total; ocean 91%, land 5%, cryosphere 3%, atmosphere 1% (rounded).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" y="3072384"/>
            <a:ext cx="10378440" cy="7315"/>
          </a:xfrm>
          <a:prstGeom prst="rect">
            <a:avLst/>
          </a:prstGeom>
          <a:solidFill>
            <a:srgbClr val="D7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3182112"/>
            <a:ext cx="20848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64E36"/>
                </a:solidFill>
                <a:latin typeface="Lato"/>
              </a:rPr>
              <a:t>Energy-budget closure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182112"/>
            <a:ext cx="8001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B35"/>
                </a:solidFill>
                <a:latin typeface="Lato"/>
              </a:rPr>
              <a:t>IPCC AR6 WGI, Box 7.2. Observed global energy inventory change: 284 [96–471] ZJ relative to 1850–1900; independent forcing/response calculations are consistent within uncertainty.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" y="3712463"/>
            <a:ext cx="10378440" cy="7315"/>
          </a:xfrm>
          <a:prstGeom prst="rect">
            <a:avLst/>
          </a:prstGeom>
          <a:solidFill>
            <a:srgbClr val="D7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3822191"/>
            <a:ext cx="20848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64E36"/>
                </a:solidFill>
                <a:latin typeface="Lato"/>
              </a:rPr>
              <a:t>Effective radiative forcing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822191"/>
            <a:ext cx="8001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B35"/>
                </a:solidFill>
                <a:latin typeface="Lato"/>
              </a:rPr>
              <a:t>IPCC AR6 WGI, §7.3.2. Doubling CO₂: 3.93 ± 0.47 W m⁻²; §7.3.5 total anthropogenic ERF 1750–2019: 2.72 [1.96–3.48] W m⁻².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" y="4352544"/>
            <a:ext cx="10378440" cy="7315"/>
          </a:xfrm>
          <a:prstGeom prst="rect">
            <a:avLst/>
          </a:prstGeom>
          <a:solidFill>
            <a:srgbClr val="D7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" y="4462272"/>
            <a:ext cx="20848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64E36"/>
                </a:solidFill>
                <a:latin typeface="Lato"/>
              </a:rPr>
              <a:t>Methods reference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462272"/>
            <a:ext cx="8001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B35"/>
                </a:solidFill>
                <a:latin typeface="Lato"/>
              </a:rPr>
              <a:t>python-pptx documentation: Quickstart; Text-related objects; Working with charts. Shapes/text here are native PowerPoint objects for editability.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" y="4992624"/>
            <a:ext cx="10378440" cy="7315"/>
          </a:xfrm>
          <a:prstGeom prst="rect">
            <a:avLst/>
          </a:prstGeom>
          <a:solidFill>
            <a:srgbClr val="D7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" y="5102352"/>
            <a:ext cx="20848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64E36"/>
                </a:solidFill>
                <a:latin typeface="Lato"/>
              </a:rPr>
              <a:t>Design basis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102352"/>
            <a:ext cx="8001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B35"/>
                </a:solidFill>
                <a:latin typeface="Lato"/>
              </a:rPr>
              <a:t>Tufte, E.R. The Visual Display of Quantitative Information (Graphics Press): data integrity, readable comparison, restraint in statistical graphics.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" y="5907024"/>
            <a:ext cx="102412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5757A"/>
                </a:solidFill>
                <a:latin typeface="Lato"/>
              </a:rPr>
              <a:t>Prepared  /  July 2026    •    Technical content is an AR6-era assessment; not a live update.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Earth’s energy imbalance: a field guide to the planetary heat budget</dc:title>
  <dc:subject>Editable briefing built with the human-first slide toolkit</dc:subject>
  <dc:creator>Human-first PowerPoint skill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