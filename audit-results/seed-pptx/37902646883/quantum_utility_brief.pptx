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49808"/>
            <a:ext cx="100584" cy="329184"/>
          </a:xfrm>
          <a:prstGeom prst="rect">
            <a:avLst/>
          </a:prstGeom>
          <a:solidFill>
            <a:srgbClr val="B96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C9BA"/>
                </a:solidFill>
                <a:latin typeface="Lato"/>
              </a:rPr>
              <a:t>COMPUTING / RESEARCH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47088"/>
            <a:ext cx="996696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Lato"/>
              </a:rPr>
              <a:t>Quantum utility before
fault 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89611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FDAD4"/>
                </a:solidFill>
                <a:latin typeface="Lato"/>
              </a:rPr>
              <a:t>What a 127-qubit experiment demonstrated—and the limits of that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5230368"/>
            <a:ext cx="2423160" cy="59436"/>
          </a:xfrm>
          <a:prstGeom prst="rect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5522976"/>
            <a:ext cx="2834640" cy="59436"/>
          </a:xfrm>
          <a:prstGeom prst="rect">
            <a:avLst/>
          </a:prstGeom>
          <a:solidFill>
            <a:srgbClr val="B96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5815584"/>
            <a:ext cx="1965960" cy="59436"/>
          </a:xfrm>
          <a:prstGeom prst="rect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B7B0"/>
                </a:solidFill>
                <a:latin typeface="Lato"/>
              </a:rPr>
              <a:t>Reading: Kim et al. · Nature 618, 500–505 (2023) · doi:10.1038/s41586-023-06096-3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The result is meaningful—but narrower than ‘quantum advantage’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The paper treats utility as a step toward application advantage, not as proof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Kim et al., Nature 618, 500–505 (2023), doi:10.1038/s41586-023-06096-3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5230368" cy="585216"/>
          </a:xfrm>
          <a:prstGeom prst="rect">
            <a:avLst/>
          </a:prstGeom>
          <a:solidFill>
            <a:srgbClr val="E6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1F"/>
                </a:solidFill>
                <a:latin typeface="Lato"/>
              </a:rPr>
              <a:t>What the experiment supports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2148840"/>
            <a:ext cx="5230368" cy="585216"/>
          </a:xfrm>
          <a:prstGeom prst="rect">
            <a:avLst/>
          </a:prstGeom>
          <a:solidFill>
            <a:srgbClr val="13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30428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Lato"/>
              </a:rPr>
              <a:t>What it does not establish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9923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645F"/>
                </a:solidFill>
                <a:latin typeface="Lato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10127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127-qubit superconducting processor; circuits reached 60 two-qubit-gate layers.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950208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645F"/>
                </a:solidFill>
                <a:latin typeface="Lato"/>
              </a:rPr>
              <a:t>Recoverability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61104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Mitigation recovered accurate expectation values in tested regimes beyond brute-force simulation.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901183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645F"/>
                </a:solidFill>
                <a:latin typeface="Lato"/>
              </a:rPr>
              <a:t>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12079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Noise characterization and control enabled the demonstrated circuit volumes.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9923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6B5B"/>
                </a:solidFill>
                <a:latin typeface="Lato"/>
              </a:rPr>
              <a:t>Not broad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10127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The study explicitly does not claim a useful speed-up for a practical application.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50208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6B5B"/>
                </a:solidFill>
                <a:latin typeface="Lato"/>
              </a:rPr>
              <a:t>Not fault tolerant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61104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The processor remained noisy; error mitigation is not the same as error correction.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901183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6B5B"/>
                </a:solidFill>
                <a:latin typeface="Lato"/>
              </a:rPr>
              <a:t>Not a universal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12079"/>
            <a:ext cx="48006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645F"/>
                </a:solidFill>
                <a:latin typeface="Lato"/>
              </a:rPr>
              <a:t>Selected circuit families and observables do not prove all comparable tasks are classically intractable.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THE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A 127-qubit chip ran 60 layers of two-qubit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A controlled many-body simulation made the noise question measurable.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Kim et al. (2023), abstract and main text. Circuit depth here means CNOT 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677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2D TRANSVERSE-FIELD ISING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96896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645F"/>
                </a:solidFill>
                <a:latin typeface="Lato"/>
              </a:rPr>
              <a:t>Nearest-neighbour interactions mapped onto IBM Eagle’s heavy-hex connectivity.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07007" y="3584448"/>
            <a:ext cx="914401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21408" y="3584448"/>
            <a:ext cx="914400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35808" y="3584448"/>
            <a:ext cx="914400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07007" y="4590288"/>
            <a:ext cx="914401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21408" y="4590288"/>
            <a:ext cx="914400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35808" y="4590288"/>
            <a:ext cx="914400" cy="44805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07007" y="4032504"/>
            <a:ext cx="914401" cy="557784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207007" y="3584448"/>
            <a:ext cx="914401" cy="145389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21408" y="3584448"/>
            <a:ext cx="914400" cy="145389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21408" y="4032504"/>
            <a:ext cx="914400" cy="557784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35808" y="4032504"/>
            <a:ext cx="914400" cy="557784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035808" y="3584448"/>
            <a:ext cx="914400" cy="1453896"/>
          </a:xfrm>
          <a:prstGeom prst="line">
            <a:avLst/>
          </a:prstGeom>
          <a:ln w="16510">
            <a:solidFill>
              <a:srgbClr val="B7C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51560" y="3877056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94563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1965960" y="3429000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4975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2880360" y="3877056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394563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794760" y="3429000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34975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1051560" y="4882896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95147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1965960" y="4434840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450342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6</a:t>
            </a:r>
          </a:p>
        </p:txBody>
      </p:sp>
      <p:sp>
        <p:nvSpPr>
          <p:cNvPr id="34" name="Oval 33"/>
          <p:cNvSpPr/>
          <p:nvPr/>
        </p:nvSpPr>
        <p:spPr>
          <a:xfrm>
            <a:off x="2880360" y="4882896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95147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3794760" y="4434840"/>
            <a:ext cx="329184" cy="329184"/>
          </a:xfrm>
          <a:prstGeom prst="ellipse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450342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Lato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2286000"/>
            <a:ext cx="10972" cy="3383280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8928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ONE TROTTER 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2798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6843"/>
                </a:solidFill>
                <a:latin typeface="Lato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2798064"/>
            <a:ext cx="5029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11F"/>
                </a:solidFill>
                <a:latin typeface="Lato"/>
              </a:rPr>
              <a:t>Single-qubit X rotations set the transverse field.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35661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6843"/>
                </a:solidFill>
                <a:latin typeface="Lato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3872" y="3566160"/>
            <a:ext cx="5029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11F"/>
                </a:solidFill>
                <a:latin typeface="Lato"/>
              </a:rPr>
              <a:t>Nearest-neighbour ZZ interactions are applied in parallel.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3342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6843"/>
                </a:solidFill>
                <a:latin typeface="Lato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3872" y="4334256"/>
            <a:ext cx="5029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11F"/>
                </a:solidFill>
                <a:latin typeface="Lato"/>
              </a:rPr>
              <a:t>Three CNOT layers cover the heavy-hex neighbour pairs.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5266944"/>
            <a:ext cx="5806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45F"/>
                </a:solidFill>
                <a:latin typeface="Lato"/>
              </a:rPr>
              <a:t>Benchmark: Trotterized 2D transverse-field Ising dynamics; the authors compare selected regimes to exact and approximate classical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Noise compounds with depth; mitigation estimates the zero-noise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The intervention is a model-based correction to measured observables—not a noiseless processor.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Kim et al. (2023), main text, Figs. 1–2. ZNE = zero-noise extrapolation.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468880"/>
            <a:ext cx="341985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6B5B"/>
                </a:solidFill>
                <a:latin typeface="Lato"/>
              </a:rPr>
              <a:t>1 · Characterize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645F"/>
                </a:solidFill>
                <a:latin typeface="Lato"/>
              </a:rPr>
              <a:t>Learn local Pauli error rates for twirled CNOT layers.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3154680"/>
            <a:ext cx="2926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9645F"/>
                </a:solidFill>
                <a:latin typeface="Lato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68880"/>
            <a:ext cx="341985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72491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6843"/>
                </a:solidFill>
                <a:latin typeface="Lato"/>
              </a:rPr>
              <a:t>2 · Scale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273552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645F"/>
                </a:solidFill>
                <a:latin typeface="Lato"/>
              </a:rPr>
              <a:t>Execute circuits with controlled noise gains; measure each observable.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154680"/>
            <a:ext cx="2926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9645F"/>
                </a:solidFill>
                <a:latin typeface="Lato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468880"/>
            <a:ext cx="3419856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72491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6B5B"/>
                </a:solidFill>
                <a:latin typeface="Lato"/>
              </a:rPr>
              <a:t>3 · Extrapolate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273552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645F"/>
                </a:solidFill>
                <a:latin typeface="Lato"/>
              </a:rPr>
              <a:t>Fit measured values against noise gain to estimate the zero-noise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892040"/>
            <a:ext cx="10954512" cy="694944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102352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11F"/>
                </a:solidFill>
                <a:latin typeface="Lato"/>
              </a:rPr>
              <a:t>Trade-off: zero-noise extrapolation can reduce bias, but remains an estimate with residual bias and sampling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The demonstrated circuit scale is specific—and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For the zero-field Clifford benchmark, ZNE improved agreement with the ideal magnetization at circuit depths up to 60 CNOT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Kim et al. (2023), abstract and main text, Fig. 2. These metrics describe this experiment, not a general capability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267712"/>
            <a:ext cx="3441192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96896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6B5B"/>
                </a:solidFill>
                <a:latin typeface="Lato"/>
              </a:rPr>
              <a:t>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0156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physical qubits on IBM Eagle (ibm_kyiv).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3880" y="2267712"/>
            <a:ext cx="3441192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3336" y="2596896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B96843"/>
                </a:solidFill>
                <a:latin typeface="La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3336" y="340156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two-qubit CNOT layers reached in the reported experiments.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1104" y="2267712"/>
            <a:ext cx="3441192" cy="215798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596896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146B5B"/>
                </a:solidFill>
                <a:latin typeface="Lato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340156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Trotter steps; the paper reports improved magnetization agreement after ZNE.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92040"/>
            <a:ext cx="10835640" cy="841248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111496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11F"/>
                </a:solidFill>
                <a:latin typeface="Lato"/>
              </a:rPr>
              <a:t>The strongest evidence is a validated workflow for selected observables at substantial circuit depth—not a practical application speed-up.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The correction works best when the benchmark is verifiable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Verification and computational hardness are not identical; the authors study both regimes.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Kim et al. (2023), main text, discussion of Clifford benchmark and 2D Ising circuits.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212848"/>
            <a:ext cx="5230368" cy="576072"/>
          </a:xfrm>
          <a:prstGeom prst="rect">
            <a:avLst/>
          </a:prstGeom>
          <a:solidFill>
            <a:srgbClr val="E6E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1F"/>
                </a:solidFill>
                <a:latin typeface="Lato"/>
              </a:rPr>
              <a:t>Exact-check regime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2212848"/>
            <a:ext cx="5230368" cy="576072"/>
          </a:xfrm>
          <a:prstGeom prst="rect">
            <a:avLst/>
          </a:prstGeom>
          <a:solidFill>
            <a:srgbClr val="13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591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Lato"/>
              </a:rPr>
              <a:t>Harder-to-simulate regime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645F"/>
                </a:solidFill>
                <a:latin typeface="Lato"/>
              </a:rPr>
              <a:t>Clifford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64992"/>
            <a:ext cx="4800600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11F"/>
                </a:solidFill>
                <a:latin typeface="Lato"/>
              </a:rPr>
              <a:t>When the transverse-field angle is a multiple of π/2, circuits become Clifford and admit efficient classical simulation. This gives a clear test of mitigation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05409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6B5B"/>
                </a:solidFill>
                <a:latin typeface="Lato"/>
              </a:rPr>
              <a:t>Strong entanglement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364992"/>
            <a:ext cx="4800600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211F"/>
                </a:solidFill>
                <a:latin typeface="Lato"/>
              </a:rPr>
              <a:t>For strongly entangled circuits, the study compares with leading tensor-network approximations and reports regimes where they break down. That is not equivalent to ruling out every classical algorithm.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19472"/>
            <a:ext cx="10515600" cy="576072"/>
          </a:xfrm>
          <a:prstGeom prst="rect">
            <a:avLst/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93208"/>
            <a:ext cx="10104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211F"/>
                </a:solidFill>
                <a:latin typeface="Lato"/>
              </a:rPr>
              <a:t>Good experimental reasoning uses tractable cases to validate the measurement pipeline, then separately examines harder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What this changes for quantum-computing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A careful reading shifts the question from ‘how many qubits?’ to ‘which observable, at what cost, versus what classical baseline?’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Interpretation based on Kim et al. (2023), including its stated distinction between utility evidence and future application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212848"/>
            <a:ext cx="50292" cy="1170432"/>
          </a:xfrm>
          <a:prstGeom prst="rect">
            <a:avLst/>
          </a:prstGeom>
          <a:solidFill>
            <a:srgbClr val="14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4942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1F"/>
                </a:solidFill>
                <a:latin typeface="Lato"/>
              </a:rPr>
              <a:t>Measure error, not just qubit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249424"/>
            <a:ext cx="754380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645F"/>
                </a:solidFill>
                <a:latin typeface="Lato"/>
              </a:rPr>
              <a:t>Coherence and calibration improvements enabled this device’s depth; raw qubit count alone is a poor proxy for useful computation.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575304"/>
            <a:ext cx="50292" cy="117043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61188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1F"/>
                </a:solidFill>
                <a:latin typeface="Lato"/>
              </a:rPr>
              <a:t>Treat mitigation as a method with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611880"/>
            <a:ext cx="754380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645F"/>
                </a:solidFill>
                <a:latin typeface="Lato"/>
              </a:rPr>
              <a:t>Noise models, stability, extrapolation choice and sampling overhead all affect whether corrected estimates are trustworthy.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937760"/>
            <a:ext cx="50292" cy="117043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97433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1F"/>
                </a:solidFill>
                <a:latin typeface="Lato"/>
              </a:rPr>
              <a:t>Keep utility claims task-specific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4974336"/>
            <a:ext cx="754380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645F"/>
                </a:solidFill>
                <a:latin typeface="Lato"/>
              </a:rPr>
              <a:t>Next steps require useful applications, comparative classical baselines, and costs that matter—not only circuits that exceed brute-force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1F"/>
                </a:solidFill>
                <a:latin typeface="Lato"/>
              </a:rPr>
              <a:t>The milestone is a capability demonstration—not the finish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4650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645F"/>
                </a:solidFill>
                <a:latin typeface="Lato"/>
              </a:rPr>
              <a:t>A bounded conclusion is stronger than an inflated headline.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91656"/>
            <a:ext cx="10881360" cy="10972"/>
          </a:xfrm>
          <a:prstGeom prst="rect">
            <a:avLst/>
          </a:prstGeom>
          <a:solidFill>
            <a:srgbClr val="D8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9784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45F"/>
                </a:solidFill>
                <a:latin typeface="Lato"/>
              </a:rPr>
              <a:t>Source: Kim et al. (2023), Nature 618, 500–505. https://doi.org/10.1038/s41586-023-06096-3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5566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45F"/>
                </a:solidFill>
                <a:latin typeface="Lato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95728"/>
            <a:ext cx="10744200" cy="1078992"/>
          </a:xfrm>
          <a:prstGeom prst="rect">
            <a:avLst/>
          </a:prstGeom>
          <a:solidFill>
            <a:srgbClr val="13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Lato"/>
              </a:rPr>
              <a:t>Noise-aware control made selected 127-qubit circuits useful for extracting accurate observables before fault tolerance.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41648"/>
            <a:ext cx="1001268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9645F"/>
                </a:solidFill>
                <a:latin typeface="Lato"/>
              </a:rPr>
              <a:t>The paper’s evidence supports quantum utility in a limited experimental sense. Demonstrating a practical quantum advantage remains a separate task: identify an application, beat the best classical approach, and account for resources.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394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B5B"/>
                </a:solidFill>
                <a:latin typeface="Lato"/>
              </a:rPr>
              <a:t>PRIMARY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715000"/>
            <a:ext cx="9966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45F"/>
                </a:solidFill>
                <a:latin typeface="Lato"/>
              </a:rPr>
              <a:t>Kim et al., “Evidence for the utility of quantum computing before fault tolerance,” Nature 618, 500–505 (2023). DOI: 10.1038/s41586-023-06096-3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Evidence-led, restrained presentation design</dc:subject>
  <dc:creator>Human-centered slide toolkit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