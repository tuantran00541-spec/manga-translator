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DejaVu Sans"/>
              </a:rPr>
              <a:t>Sơ đồ quyết định chọn loại biểu đồ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Một nhánh: hỏi đúng câu hỏi, chọn đúng hình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Ngày 2 · bộ thứ ba theo SKILL.md · tiếng Việt có dấu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câu hỏi trước khi vẽ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F7D70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66420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Trục là rời rạc hay liên tục?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F7D70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3288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Muốn nói "so sánh", "xu hướng" hay "tỷ lệ trong tổng"?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F7D70"/>
                </a:solidFill>
                <a:latin typeface="DejaVu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0156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Ai là đối tượng sẽ đọc biểu đồ này trước?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lựa chọn, mỗi lựa chọn một câu hỏi riêng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F7D70"/>
                </a:solidFill>
                <a:latin typeface="DejaVu Sans"/>
              </a:rPr>
              <a:t>Cột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So sánh giữa các nhóm rời rạc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Nhà máy, vùng miền, quý — các nhóm không nối tiếp nhau.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F7D70"/>
                </a:solidFill>
                <a:latin typeface="DejaVu Sans"/>
              </a:rPr>
              <a:t>Đường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Xu hướng theo thời gian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Một trục thời gian, đọc theo chiều ngang; thấy nhịp lên xuống.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F7D70"/>
                </a:solidFill>
                <a:latin typeface="DejaVu Sans"/>
              </a:rPr>
              <a:t>Mảnh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Tỷ lệ trong một tổng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Chỉ nên dùng khi tổng có ý nghĩa; quá 4 mảnh là rối.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Quy trình: từ câu hỏi đến một hình đúng</a:t>
            </a:r>
          </a:p>
        </p:txBody>
      </p:sp>
      <p:sp>
        <p:nvSpPr>
          <p:cNvPr id="3" name="Oval 2"/>
          <p:cNvSpPr/>
          <p:nvPr/>
        </p:nvSpPr>
        <p:spPr>
          <a:xfrm>
            <a:off x="146304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56032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Xác định trục dữ liệu</a:t>
            </a:r>
          </a:p>
        </p:txBody>
      </p:sp>
      <p:sp>
        <p:nvSpPr>
          <p:cNvPr id="7" name="Oval 6"/>
          <p:cNvSpPr/>
          <p:nvPr/>
        </p:nvSpPr>
        <p:spPr>
          <a:xfrm>
            <a:off x="425196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6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49240" y="256032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6616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Loại hình phù hợp trục đó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38160" y="256032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5508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Sắp xếp nhóm theo mạch chuyện</a:t>
            </a:r>
          </a:p>
        </p:txBody>
      </p:sp>
      <p:sp>
        <p:nvSpPr>
          <p:cNvPr id="15" name="Oval 14"/>
          <p:cNvSpPr/>
          <p:nvPr/>
        </p:nvSpPr>
        <p:spPr>
          <a:xfrm>
            <a:off x="9829799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799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9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Dọn chi tiết, khoanh một điểm nhấn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Ví dụ: ba câu hỏi, ba kết quả khác nhau</a:t>
            </a:r>
          </a:p>
        </p:txBody>
      </p:sp>
      <p:sp>
        <p:nvSpPr>
          <p:cNvPr id="3" name="Rectangle 2"/>
          <p:cNvSpPr/>
          <p:nvPr/>
        </p:nvSpPr>
        <p:spPr>
          <a:xfrm>
            <a:off x="1348740" y="2336800"/>
            <a:ext cx="2453640" cy="260096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48740" y="1925320"/>
            <a:ext cx="2453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Rời rạc</a:t>
            </a:r>
          </a:p>
        </p:txBody>
      </p:sp>
      <p:sp>
        <p:nvSpPr>
          <p:cNvPr id="6" name="Rectangle 5"/>
          <p:cNvSpPr/>
          <p:nvPr/>
        </p:nvSpPr>
        <p:spPr>
          <a:xfrm>
            <a:off x="4853940" y="2011680"/>
            <a:ext cx="2453640" cy="292608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53940" y="1600200"/>
            <a:ext cx="2453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3900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Liên tục</a:t>
            </a:r>
          </a:p>
        </p:txBody>
      </p:sp>
      <p:sp>
        <p:nvSpPr>
          <p:cNvPr id="9" name="Rectangle 8"/>
          <p:cNvSpPr/>
          <p:nvPr/>
        </p:nvSpPr>
        <p:spPr>
          <a:xfrm>
            <a:off x="8359139" y="3962400"/>
            <a:ext cx="2453640" cy="975360"/>
          </a:xfrm>
          <a:prstGeom prst="rect">
            <a:avLst/>
          </a:prstGeom>
          <a:solidFill>
            <a:srgbClr val="0F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9139" y="3550920"/>
            <a:ext cx="2453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9099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Tỷ lệ tổng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ví dụ minh họa theo SKILL.md mục 5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Biểu đồ sai loại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không thể cứu bằng màu đẹp.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nguyên tắc "chọn trục trước, chọn hình sau" (SKILL.md mục 5, Knaflic)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DejaVu Sans"/>
              </a:rPr>
              <a:t>Mọi quyết định chọn hình</a:t>
            </a:r>
          </a:p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DejaVu Sans"/>
              </a:rPr>
              <a:t>bắt đầu từ trục dữ liệu.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tiếp: so sánh ba loại này với nhau trong một slide duy nhất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