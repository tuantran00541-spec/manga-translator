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DejaVu Sans"/>
              </a:rPr>
              <a:t>Quy trình: từ ý tưởng đến slide chiếu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56616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B0C4DE"/>
                </a:solidFill>
                <a:latin typeface="DejaVu Sans"/>
              </a:rPr>
              <a:t>Mỗi bước một tiêu chuẩn, không bỏ bước nào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264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FA3C7"/>
                </a:solidFill>
                <a:latin typeface="DejaVu Sans"/>
              </a:rPr>
              <a:t>Bộ 14 · quy trình từng bước · tiếng Việt có dấu · tạo bằng plugin</a:t>
            </a:r>
          </a:p>
        </p:txBody>
      </p:sp>
    </p:spTree>
  </p:cSld>
  <p:transition>
    <p:fade spd="med"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Sáu bước, đúng thứ tự</a:t>
            </a:r>
          </a:p>
        </p:txBody>
      </p:sp>
      <p:sp>
        <p:nvSpPr>
          <p:cNvPr id="3" name="Oval 2"/>
          <p:cNvSpPr/>
          <p:nvPr/>
        </p:nvSpPr>
        <p:spPr>
          <a:xfrm>
            <a:off x="1003706" y="2011680"/>
            <a:ext cx="1090879" cy="1090879"/>
          </a:xfrm>
          <a:prstGeom prst="ellipse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3706" y="2011680"/>
            <a:ext cx="1090879" cy="109087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DejaVu Sans"/>
              </a:rPr>
              <a:t>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094585" y="2560320"/>
            <a:ext cx="727253" cy="0"/>
          </a:xfrm>
          <a:prstGeom prst="line">
            <a:avLst/>
          </a:prstGeom>
          <a:ln w="25400">
            <a:solidFill>
              <a:srgbClr val="D0D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1885" y="3566160"/>
            <a:ext cx="2148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Chọn một thông điệp duy nhất</a:t>
            </a:r>
          </a:p>
        </p:txBody>
      </p:sp>
      <p:sp>
        <p:nvSpPr>
          <p:cNvPr id="7" name="Oval 6"/>
          <p:cNvSpPr/>
          <p:nvPr/>
        </p:nvSpPr>
        <p:spPr>
          <a:xfrm>
            <a:off x="2821838" y="2011680"/>
            <a:ext cx="1090879" cy="1090879"/>
          </a:xfrm>
          <a:prstGeom prst="ellipse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21838" y="2011680"/>
            <a:ext cx="1090879" cy="109087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DejaVu Sans"/>
              </a:rPr>
              <a:t>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912717" y="2560320"/>
            <a:ext cx="727253" cy="0"/>
          </a:xfrm>
          <a:prstGeom prst="line">
            <a:avLst/>
          </a:prstGeom>
          <a:ln w="25400">
            <a:solidFill>
              <a:srgbClr val="D0D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430018" y="3566160"/>
            <a:ext cx="2148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Viết tiêu đề thành câu kết luận</a:t>
            </a:r>
          </a:p>
        </p:txBody>
      </p:sp>
      <p:sp>
        <p:nvSpPr>
          <p:cNvPr id="11" name="Oval 10"/>
          <p:cNvSpPr/>
          <p:nvPr/>
        </p:nvSpPr>
        <p:spPr>
          <a:xfrm>
            <a:off x="4639970" y="2011680"/>
            <a:ext cx="1090879" cy="1090879"/>
          </a:xfrm>
          <a:prstGeom prst="ellipse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9970" y="2011680"/>
            <a:ext cx="1090879" cy="109087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DejaVu Sans"/>
              </a:rPr>
              <a:t>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730849" y="2560320"/>
            <a:ext cx="727253" cy="0"/>
          </a:xfrm>
          <a:prstGeom prst="line">
            <a:avLst/>
          </a:prstGeom>
          <a:ln w="25400">
            <a:solidFill>
              <a:srgbClr val="D0D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48150" y="3566160"/>
            <a:ext cx="2148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Chọn đúng loại hình theo trục</a:t>
            </a:r>
          </a:p>
        </p:txBody>
      </p:sp>
      <p:sp>
        <p:nvSpPr>
          <p:cNvPr id="15" name="Oval 14"/>
          <p:cNvSpPr/>
          <p:nvPr/>
        </p:nvSpPr>
        <p:spPr>
          <a:xfrm>
            <a:off x="6458102" y="2011680"/>
            <a:ext cx="1090879" cy="1090879"/>
          </a:xfrm>
          <a:prstGeom prst="ellipse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8102" y="2011680"/>
            <a:ext cx="1090879" cy="109087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DejaVu Sans"/>
              </a:rPr>
              <a:t>4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548981" y="2560320"/>
            <a:ext cx="727253" cy="0"/>
          </a:xfrm>
          <a:prstGeom prst="line">
            <a:avLst/>
          </a:prstGeom>
          <a:ln w="25400">
            <a:solidFill>
              <a:srgbClr val="D0D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066282" y="3566160"/>
            <a:ext cx="2148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Xoay trục, dọn chi tiết thừa</a:t>
            </a:r>
          </a:p>
        </p:txBody>
      </p:sp>
      <p:sp>
        <p:nvSpPr>
          <p:cNvPr id="19" name="Oval 18"/>
          <p:cNvSpPr/>
          <p:nvPr/>
        </p:nvSpPr>
        <p:spPr>
          <a:xfrm>
            <a:off x="8276234" y="2011680"/>
            <a:ext cx="1090879" cy="1090879"/>
          </a:xfrm>
          <a:prstGeom prst="ellipse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6234" y="2011680"/>
            <a:ext cx="1090879" cy="109087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DejaVu Sans"/>
              </a:rPr>
              <a:t>5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367113" y="2560320"/>
            <a:ext cx="727253" cy="0"/>
          </a:xfrm>
          <a:prstGeom prst="line">
            <a:avLst/>
          </a:prstGeom>
          <a:ln w="25400">
            <a:solidFill>
              <a:srgbClr val="D0D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884413" y="3566160"/>
            <a:ext cx="2148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Đo tương phản và cỡ chữ</a:t>
            </a:r>
          </a:p>
        </p:txBody>
      </p:sp>
      <p:sp>
        <p:nvSpPr>
          <p:cNvPr id="23" name="Oval 22"/>
          <p:cNvSpPr/>
          <p:nvPr/>
        </p:nvSpPr>
        <p:spPr>
          <a:xfrm>
            <a:off x="10094366" y="2011680"/>
            <a:ext cx="1090879" cy="1090879"/>
          </a:xfrm>
          <a:prstGeom prst="ellipse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94366" y="2011680"/>
            <a:ext cx="1090879" cy="109087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DejaVu Sans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02545" y="3566160"/>
            <a:ext cx="2148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Giao buổi chính thức, mở bàn hỏi đáp</a:t>
            </a:r>
          </a:p>
        </p:txBody>
      </p:sp>
    </p:spTree>
  </p:cSld>
  <p:transition>
    <p:fade spd="med"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Ba bước dễ bị bỏ nhất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54480"/>
            <a:ext cx="3474720" cy="40233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9260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B5ED7"/>
                </a:solidFill>
                <a:latin typeface="DejaVu Sans"/>
              </a:rPr>
              <a:t>B4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2926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DejaVu Sans"/>
              </a:rPr>
              <a:t>dọn chi tiết thừa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2926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Cắt lưới, viền, màu không cần thiết; giữ đúng một điểm nhấn.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16552" y="1554480"/>
            <a:ext cx="3474720" cy="40233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90872" y="1828800"/>
            <a:ext cx="29260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B5ED7"/>
                </a:solidFill>
                <a:latin typeface="DejaVu Sans"/>
              </a:rPr>
              <a:t>B5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0872" y="3017520"/>
            <a:ext cx="2926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DejaVu Sans"/>
              </a:rPr>
              <a:t>đo tương phản chữ nền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0872" y="3749039"/>
            <a:ext cx="2926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Mọi chữ phải đạt 4.5:1 với nền thật của nó.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93023" y="1554480"/>
            <a:ext cx="3474720" cy="40233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67344" y="1828800"/>
            <a:ext cx="29260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B5ED7"/>
                </a:solidFill>
                <a:latin typeface="DejaVu Sans"/>
              </a:rPr>
              <a:t>B6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67344" y="3017520"/>
            <a:ext cx="2926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DejaVu Sans"/>
              </a:rPr>
              <a:t>mở bàn hỏi đáp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67344" y="3749039"/>
            <a:ext cx="2926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Đoạn 20 phút cuối không phải để đọc slide.</a:t>
            </a:r>
          </a:p>
        </p:txBody>
      </p:sp>
    </p:spTree>
  </p:cSld>
  <p:transition>
    <p:fade spd="med"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Bước nào làm trước, bước nào không được làm trước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5120640" cy="731520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DejaVu Sans"/>
              </a:rPr>
              <a:t>Làm trước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Xác định trục dữ liệu trước khi chọn loại hình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79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Viết tiêu đề kết luận trước khi trang trí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463040"/>
            <a:ext cx="5120640" cy="73152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554480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DejaVu Sans"/>
              </a:rPr>
              <a:t>Không làm trước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56032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Không vẽ biểu đồ trước khi có số thật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383279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Không đổi màu nhấn giữa chừng quy trình</a:t>
            </a:r>
          </a:p>
        </p:txBody>
      </p:sp>
    </p:spTree>
  </p:cSld>
  <p:transition>
    <p:fade spd="med"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Bước tốn thời gian nhất thường là bước 4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5850" y="3962400"/>
            <a:ext cx="1226820" cy="975360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5850" y="3550920"/>
            <a:ext cx="12268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A1A1A"/>
                </a:solidFill>
                <a:latin typeface="DejaVu San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5810" y="5074920"/>
            <a:ext cx="20497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B1</a:t>
            </a:r>
          </a:p>
        </p:txBody>
      </p:sp>
      <p:sp>
        <p:nvSpPr>
          <p:cNvPr id="6" name="Rectangle 5"/>
          <p:cNvSpPr/>
          <p:nvPr/>
        </p:nvSpPr>
        <p:spPr>
          <a:xfrm>
            <a:off x="2838450" y="3474720"/>
            <a:ext cx="1226820" cy="1463040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38450" y="3063240"/>
            <a:ext cx="12268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A1A1A"/>
                </a:solidFill>
                <a:latin typeface="DejaVu Sans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8410" y="5074920"/>
            <a:ext cx="20497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B2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91050" y="2987040"/>
            <a:ext cx="1226820" cy="1950720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1050" y="2575560"/>
            <a:ext cx="12268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A1A1A"/>
                </a:solidFill>
                <a:latin typeface="DejaVu Sans"/>
              </a:rPr>
              <a:t>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71010" y="5074920"/>
            <a:ext cx="20497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B3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43650" y="2011680"/>
            <a:ext cx="1226820" cy="2926080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3650" y="1600200"/>
            <a:ext cx="12268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A1A1A"/>
                </a:solidFill>
                <a:latin typeface="DejaVu Sans"/>
              </a:rPr>
              <a:t>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23610" y="5074920"/>
            <a:ext cx="20497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B4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6249" y="3474720"/>
            <a:ext cx="1226820" cy="1463040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6249" y="3063240"/>
            <a:ext cx="12268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A1A1A"/>
                </a:solidFill>
                <a:latin typeface="DejaVu Sans"/>
              </a:rPr>
              <a:t>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6210" y="5074920"/>
            <a:ext cx="20497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B5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848850" y="3962400"/>
            <a:ext cx="1226820" cy="975360"/>
          </a:xfrm>
          <a:prstGeom prst="rect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48850" y="3550920"/>
            <a:ext cx="12268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A1A1A"/>
                </a:solidFill>
                <a:latin typeface="DejaVu Sans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8810" y="5074920"/>
            <a:ext cx="20497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B6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DejaVu Sans"/>
              </a:rPr>
              <a:t>Nguồn: ước lượng thời gian chuẩn bị (demo, không phải số thật)</a:t>
            </a:r>
          </a:p>
        </p:txBody>
      </p:sp>
    </p:spTree>
  </p:cSld>
  <p:transition>
    <p:fade spd="med"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B0C4DE"/>
                </a:solidFill>
                <a:latin typeface="DejaVu Sans"/>
              </a:rPr>
              <a:t>Nếu chưa rõ nên chọn loại hình nào,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83464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DejaVu Sans"/>
              </a:rPr>
              <a:t>chưa rõ trục dữ liệu là vì chưa hỏi đúng câu.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1206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8FA3C7"/>
                </a:solidFill>
                <a:latin typeface="DejaVu Sans"/>
              </a:rPr>
              <a:t>— nguyên tắc hỏi trước khi vẽ (SKILL.md mục 5)</a:t>
            </a:r>
          </a:p>
        </p:txBody>
      </p:sp>
    </p:spTree>
  </p:cSld>
  <p:transition>
    <p:fade spd="med"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1088136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1A1A1A"/>
                </a:solidFill>
                <a:latin typeface="DejaVu Sans"/>
              </a:rPr>
              <a:t>Sáu bước, một quy trình, không lộn xộn.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595959"/>
                </a:solidFill>
                <a:latin typeface="DejaVu Sans"/>
              </a:rPr>
              <a:t>Bước tiếp: so sánh hai cách đi vào cùng một quy trình</a:t>
            </a:r>
          </a:p>
        </p:txBody>
      </p:sp>
    </p:spTree>
  </p:cSld>
  <p:transition>
    <p:fade spd="med"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