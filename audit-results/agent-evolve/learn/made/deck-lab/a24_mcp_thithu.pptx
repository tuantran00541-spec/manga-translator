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737360"/>
            <a:ext cx="108813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>
                <a:solidFill>
                  <a:srgbClr val="FFFFFF"/>
                </a:solidFill>
                <a:latin typeface="DejaVu Sans"/>
              </a:rPr>
              <a:t>Thi thử hoàn toàn bằng tool mcp__deck__*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566160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>
                <a:solidFill>
                  <a:srgbClr val="B0C4DE"/>
                </a:solidFill>
                <a:latin typeface="DejaVu Sans"/>
              </a:rPr>
              <a:t>Tạo và tự kiểm trong cùng một phiên, không qua script riêng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126480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8FA3C7"/>
                </a:solidFill>
                <a:latin typeface="DejaVu Sans"/>
              </a:rPr>
              <a:t>Bộ 24 · thi thử (tiêu chí G) · tiếng Việt có dấu</a:t>
            </a:r>
          </a:p>
        </p:txBody>
      </p:sp>
    </p:spTree>
  </p:cSld>
  <p:transition>
    <p:fade spd="med"/>
  </p:transition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A1A1A"/>
                </a:solidFill>
                <a:latin typeface="DejaVu Sans"/>
              </a:rPr>
              <a:t>Ba bước của bài thi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822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F7D70"/>
                </a:solidFill>
                <a:latin typeface="DejaVu Sans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37360" y="1664208"/>
            <a:ext cx="86868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>
                <a:solidFill>
                  <a:srgbClr val="1A1A1A"/>
                </a:solidFill>
                <a:latin typeface="DejaVu Sans"/>
              </a:rPr>
              <a:t>Gọi make_deck với spec JSON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514600"/>
            <a:ext cx="822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F7D70"/>
                </a:solidFill>
                <a:latin typeface="DejaVu Sans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2532888"/>
            <a:ext cx="86868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>
                <a:solidFill>
                  <a:srgbClr val="1A1A1A"/>
                </a:solidFill>
                <a:latin typeface="DejaVu Sans"/>
              </a:rPr>
              <a:t>Gọi check_deck trên file vừa tạo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383280"/>
            <a:ext cx="822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F7D70"/>
                </a:solidFill>
                <a:latin typeface="DejaVu Sans"/>
              </a:rP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3401568"/>
            <a:ext cx="86868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>
                <a:solidFill>
                  <a:srgbClr val="1A1A1A"/>
                </a:solidFill>
                <a:latin typeface="DejaVu Sans"/>
              </a:rPr>
              <a:t>Ghi kết quả kèm render vào JOURNAL.md</a:t>
            </a:r>
          </a:p>
        </p:txBody>
      </p:sp>
    </p:spTree>
  </p:cSld>
  <p:transition>
    <p:fade spd="med"/>
  </p:transition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A1A1A"/>
                </a:solidFill>
                <a:latin typeface="DejaVu Sans"/>
              </a:rPr>
              <a:t>Mốc kiểm tra trong bài thi này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3291840"/>
            <a:ext cx="10515600" cy="54864"/>
          </a:xfrm>
          <a:prstGeom prst="rect">
            <a:avLst/>
          </a:prstGeom>
          <a:solidFill>
            <a:srgbClr val="D0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447544" y="3163824"/>
            <a:ext cx="256032" cy="256032"/>
          </a:xfrm>
          <a:prstGeom prst="ellipse">
            <a:avLst/>
          </a:prstGeom>
          <a:solidFill>
            <a:srgbClr val="0F7D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286000"/>
            <a:ext cx="31394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1A1A1A"/>
                </a:solidFill>
                <a:latin typeface="DejaVu Sans"/>
              </a:rPr>
              <a:t>Bước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657600"/>
            <a:ext cx="3139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0F7D70"/>
                </a:solidFill>
                <a:latin typeface="DejaVu Sans"/>
              </a:rPr>
              <a:t>make_deck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4297680"/>
            <a:ext cx="31394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300" b="0">
                <a:solidFill>
                  <a:srgbClr val="595959"/>
                </a:solidFill>
                <a:latin typeface="DejaVu Sans"/>
              </a:rPr>
              <a:t>Trả về đường dẫn file .pptx</a:t>
            </a:r>
          </a:p>
        </p:txBody>
      </p:sp>
      <p:sp>
        <p:nvSpPr>
          <p:cNvPr id="8" name="Oval 7"/>
          <p:cNvSpPr/>
          <p:nvPr/>
        </p:nvSpPr>
        <p:spPr>
          <a:xfrm>
            <a:off x="5952744" y="3163824"/>
            <a:ext cx="256032" cy="256032"/>
          </a:xfrm>
          <a:prstGeom prst="ellipse">
            <a:avLst/>
          </a:prstGeom>
          <a:solidFill>
            <a:srgbClr val="0F7D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11040" y="2286000"/>
            <a:ext cx="31394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1A1A1A"/>
                </a:solidFill>
                <a:latin typeface="DejaVu Sans"/>
              </a:rPr>
              <a:t>Bước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11040" y="3657600"/>
            <a:ext cx="3139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0F7D70"/>
                </a:solidFill>
                <a:latin typeface="DejaVu Sans"/>
              </a:rPr>
              <a:t>check_deck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11040" y="4297680"/>
            <a:ext cx="31394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300" b="0">
                <a:solidFill>
                  <a:srgbClr val="595959"/>
                </a:solidFill>
                <a:latin typeface="DejaVu Sans"/>
              </a:rPr>
              <a:t>Báo lỗi cứng và cảnh báo</a:t>
            </a:r>
          </a:p>
        </p:txBody>
      </p:sp>
      <p:sp>
        <p:nvSpPr>
          <p:cNvPr id="12" name="Oval 11"/>
          <p:cNvSpPr/>
          <p:nvPr/>
        </p:nvSpPr>
        <p:spPr>
          <a:xfrm>
            <a:off x="9457943" y="3163824"/>
            <a:ext cx="256032" cy="256032"/>
          </a:xfrm>
          <a:prstGeom prst="ellipse">
            <a:avLst/>
          </a:prstGeom>
          <a:solidFill>
            <a:srgbClr val="0F7D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16239" y="2286000"/>
            <a:ext cx="31394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1A1A1A"/>
                </a:solidFill>
                <a:latin typeface="DejaVu Sans"/>
              </a:rPr>
              <a:t>Bước 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16239" y="3657600"/>
            <a:ext cx="3139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0F7D70"/>
                </a:solidFill>
                <a:latin typeface="DejaVu Sans"/>
              </a:rPr>
              <a:t>render + view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16239" y="4297680"/>
            <a:ext cx="31394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300" b="0">
                <a:solidFill>
                  <a:srgbClr val="595959"/>
                </a:solidFill>
                <a:latin typeface="DejaVu Sans"/>
              </a:rPr>
              <a:t>Xác nhận bằng mắt từng trang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12648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95959"/>
                </a:solidFill>
                <a:latin typeface="DejaVu Sans"/>
              </a:rPr>
              <a:t>Nguồn: quy trình thi thử (JOURNAL.md, tiêu chí G)</a:t>
            </a:r>
          </a:p>
        </p:txBody>
      </p:sp>
    </p:spTree>
  </p:cSld>
  <p:transition>
    <p:fade spd="med"/>
  </p:transition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A1A1A"/>
                </a:solidFill>
                <a:latin typeface="DejaVu Sans"/>
              </a:rPr>
              <a:t>Điều tool làm được, điều cần con người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463040"/>
            <a:ext cx="5120640" cy="4023360"/>
          </a:xfrm>
          <a:prstGeom prst="rect">
            <a:avLst/>
          </a:prstGeom>
          <a:solidFill>
            <a:srgbClr val="F2F5FA"/>
          </a:solidFill>
          <a:ln>
            <a:solidFill>
              <a:srgbClr val="D0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463040"/>
            <a:ext cx="5120640" cy="731520"/>
          </a:xfrm>
          <a:prstGeom prst="rect">
            <a:avLst/>
          </a:prstGeom>
          <a:solidFill>
            <a:srgbClr val="5A6B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45720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DejaVu Sans"/>
              </a:rPr>
              <a:t>Tool làm</a:t>
            </a:r>
          </a:p>
        </p:txBody>
      </p:sp>
      <p:sp>
        <p:nvSpPr>
          <p:cNvPr id="6" name="Oval 5"/>
          <p:cNvSpPr/>
          <p:nvPr/>
        </p:nvSpPr>
        <p:spPr>
          <a:xfrm>
            <a:off x="960119" y="2578608"/>
            <a:ext cx="182880" cy="182880"/>
          </a:xfrm>
          <a:prstGeom prst="ellipse">
            <a:avLst/>
          </a:prstGeom>
          <a:solidFill>
            <a:srgbClr val="5A6B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98448" y="2468880"/>
            <a:ext cx="41605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>
                <a:solidFill>
                  <a:srgbClr val="1A1A1A"/>
                </a:solidFill>
                <a:latin typeface="DejaVu Sans"/>
              </a:rPr>
              <a:t>Tạo file .pptx thật, đủ chuyển trang</a:t>
            </a:r>
          </a:p>
        </p:txBody>
      </p:sp>
      <p:sp>
        <p:nvSpPr>
          <p:cNvPr id="8" name="Oval 7"/>
          <p:cNvSpPr/>
          <p:nvPr/>
        </p:nvSpPr>
        <p:spPr>
          <a:xfrm>
            <a:off x="960119" y="3538728"/>
            <a:ext cx="182880" cy="182880"/>
          </a:xfrm>
          <a:prstGeom prst="ellipse">
            <a:avLst/>
          </a:prstGeom>
          <a:solidFill>
            <a:srgbClr val="5A6B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98448" y="3429000"/>
            <a:ext cx="41605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>
                <a:solidFill>
                  <a:srgbClr val="1A1A1A"/>
                </a:solidFill>
                <a:latin typeface="DejaVu Sans"/>
              </a:rPr>
              <a:t>Tự kiểm 8 điểm, chỉ rõ slide nào lỗi</a:t>
            </a:r>
          </a:p>
        </p:txBody>
      </p:sp>
      <p:sp>
        <p:nvSpPr>
          <p:cNvPr id="10" name="Oval 9"/>
          <p:cNvSpPr/>
          <p:nvPr/>
        </p:nvSpPr>
        <p:spPr>
          <a:xfrm>
            <a:off x="960119" y="4498848"/>
            <a:ext cx="182880" cy="182880"/>
          </a:xfrm>
          <a:prstGeom prst="ellipse">
            <a:avLst/>
          </a:prstGeom>
          <a:solidFill>
            <a:srgbClr val="5A6B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98448" y="4389120"/>
            <a:ext cx="41605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>
                <a:solidFill>
                  <a:srgbClr val="1A1A1A"/>
                </a:solidFill>
                <a:latin typeface="DejaVu Sans"/>
              </a:rPr>
              <a:t>Báo số cảnh báo cần render xác nhận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1463040"/>
            <a:ext cx="5120640" cy="4023360"/>
          </a:xfrm>
          <a:prstGeom prst="rect">
            <a:avLst/>
          </a:prstGeom>
          <a:solidFill>
            <a:srgbClr val="FFFFFF"/>
          </a:solidFill>
          <a:ln>
            <a:solidFill>
              <a:srgbClr val="D0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09360" y="1463040"/>
            <a:ext cx="5120640" cy="73152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1554480"/>
            <a:ext cx="45720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DejaVu Sans"/>
              </a:rPr>
              <a:t>Con người làm</a:t>
            </a:r>
          </a:p>
        </p:txBody>
      </p:sp>
      <p:sp>
        <p:nvSpPr>
          <p:cNvPr id="15" name="Oval 14"/>
          <p:cNvSpPr/>
          <p:nvPr/>
        </p:nvSpPr>
        <p:spPr>
          <a:xfrm>
            <a:off x="6629400" y="2578608"/>
            <a:ext cx="182880" cy="182880"/>
          </a:xfrm>
          <a:prstGeom prst="ellipse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67728" y="2468880"/>
            <a:ext cx="41605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>
                <a:solidFill>
                  <a:srgbClr val="1A1A1A"/>
                </a:solidFill>
                <a:latin typeface="DejaVu Sans"/>
              </a:rPr>
              <a:t>Chọn đúng loại hình theo trục dữ liệu</a:t>
            </a:r>
          </a:p>
        </p:txBody>
      </p:sp>
      <p:sp>
        <p:nvSpPr>
          <p:cNvPr id="17" name="Oval 16"/>
          <p:cNvSpPr/>
          <p:nvPr/>
        </p:nvSpPr>
        <p:spPr>
          <a:xfrm>
            <a:off x="6629400" y="3538728"/>
            <a:ext cx="182880" cy="182880"/>
          </a:xfrm>
          <a:prstGeom prst="ellipse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67728" y="3429000"/>
            <a:ext cx="41605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>
                <a:solidFill>
                  <a:srgbClr val="1A1A1A"/>
                </a:solidFill>
                <a:latin typeface="DejaVu Sans"/>
              </a:rPr>
              <a:t>Xác nhận bằng mắt khi render</a:t>
            </a:r>
          </a:p>
        </p:txBody>
      </p:sp>
      <p:sp>
        <p:nvSpPr>
          <p:cNvPr id="19" name="Oval 18"/>
          <p:cNvSpPr/>
          <p:nvPr/>
        </p:nvSpPr>
        <p:spPr>
          <a:xfrm>
            <a:off x="6629400" y="4498848"/>
            <a:ext cx="182880" cy="182880"/>
          </a:xfrm>
          <a:prstGeom prst="ellipse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67728" y="4389120"/>
            <a:ext cx="41605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>
                <a:solidFill>
                  <a:srgbClr val="1A1A1A"/>
                </a:solidFill>
                <a:latin typeface="DejaVu Sans"/>
              </a:rPr>
              <a:t>Quyết định chấp nhận hay cắt</a:t>
            </a:r>
          </a:p>
        </p:txBody>
      </p:sp>
    </p:spTree>
  </p:cSld>
  <p:transition>
    <p:fade spd="med"/>
  </p:transition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A1A1A"/>
                </a:solidFill>
                <a:latin typeface="DejaVu Sans"/>
              </a:rPr>
              <a:t>Ba con số của bài thi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554480"/>
            <a:ext cx="3474720" cy="4023360"/>
          </a:xfrm>
          <a:prstGeom prst="rect">
            <a:avLst/>
          </a:prstGeom>
          <a:solidFill>
            <a:srgbClr val="F2F5FA"/>
          </a:solidFill>
          <a:ln>
            <a:solidFill>
              <a:srgbClr val="D0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292608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4800" b="1">
                <a:solidFill>
                  <a:srgbClr val="0F7D70"/>
                </a:solidFill>
                <a:latin typeface="DejaVu Sans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017520"/>
            <a:ext cx="29260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1A1A1A"/>
                </a:solidFill>
                <a:latin typeface="DejaVu Sans"/>
              </a:rPr>
              <a:t>tool gọi thành công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749039"/>
            <a:ext cx="292608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595959"/>
                </a:solidFill>
                <a:latin typeface="DejaVu Sans"/>
              </a:rPr>
              <a:t>make_deck rồi check_deck, cùng phiên.</a:t>
            </a:r>
          </a:p>
        </p:txBody>
      </p:sp>
      <p:sp>
        <p:nvSpPr>
          <p:cNvPr id="7" name="Rectangle 6"/>
          <p:cNvSpPr/>
          <p:nvPr/>
        </p:nvSpPr>
        <p:spPr>
          <a:xfrm>
            <a:off x="4416552" y="1554480"/>
            <a:ext cx="3474720" cy="4023360"/>
          </a:xfrm>
          <a:prstGeom prst="rect">
            <a:avLst/>
          </a:prstGeom>
          <a:solidFill>
            <a:srgbClr val="F2F5FA"/>
          </a:solidFill>
          <a:ln>
            <a:solidFill>
              <a:srgbClr val="D0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90872" y="1828800"/>
            <a:ext cx="292608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4800" b="1">
                <a:solidFill>
                  <a:srgbClr val="0F7D70"/>
                </a:solidFill>
                <a:latin typeface="DejaVu Sans"/>
              </a:rPr>
              <a:t>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90872" y="3017520"/>
            <a:ext cx="29260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1A1A1A"/>
                </a:solidFill>
                <a:latin typeface="DejaVu Sans"/>
              </a:rPr>
              <a:t>điểm tự kiểm theo SKILL.md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90872" y="3749039"/>
            <a:ext cx="292608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595959"/>
                </a:solidFill>
                <a:latin typeface="DejaVu Sans"/>
              </a:rPr>
              <a:t>Không được bỏ qua khi báo xong.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93023" y="1554480"/>
            <a:ext cx="3474720" cy="4023360"/>
          </a:xfrm>
          <a:prstGeom prst="rect">
            <a:avLst/>
          </a:prstGeom>
          <a:solidFill>
            <a:srgbClr val="F2F5FA"/>
          </a:solidFill>
          <a:ln>
            <a:solidFill>
              <a:srgbClr val="D0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67344" y="1828800"/>
            <a:ext cx="292608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4800" b="1">
                <a:solidFill>
                  <a:srgbClr val="0F7D70"/>
                </a:solidFill>
                <a:latin typeface="DejaVu San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67344" y="3017520"/>
            <a:ext cx="29260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1A1A1A"/>
                </a:solidFill>
                <a:latin typeface="DejaVu Sans"/>
              </a:rPr>
              <a:t>lỗi thật phát hiện nhờ tool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67344" y="3749039"/>
            <a:ext cx="292608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595959"/>
                </a:solidFill>
                <a:latin typeface="DejaVu Sans"/>
              </a:rPr>
              <a:t>cache module cũ khi thêm layout mới; đã sửa bằng xóa sys.modules.</a:t>
            </a:r>
          </a:p>
        </p:txBody>
      </p:sp>
    </p:spTree>
  </p:cSld>
  <p:transition>
    <p:fade spd="med"/>
  </p:transition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A1A1A"/>
                </a:solidFill>
                <a:latin typeface="DejaVu Sans"/>
              </a:rPr>
              <a:t>Tỷ lệ tool chạy thành công sau 4 bộ thi thử</a:t>
            </a:r>
          </a:p>
        </p:txBody>
      </p:sp>
      <p:sp>
        <p:nvSpPr>
          <p:cNvPr id="3" name="Rectangle 2"/>
          <p:cNvSpPr/>
          <p:nvPr/>
        </p:nvSpPr>
        <p:spPr>
          <a:xfrm>
            <a:off x="1348740" y="2194560"/>
            <a:ext cx="2453640" cy="2743200"/>
          </a:xfrm>
          <a:prstGeom prst="rect">
            <a:avLst/>
          </a:prstGeom>
          <a:solidFill>
            <a:srgbClr val="5A6B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48740" y="2240280"/>
            <a:ext cx="2453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DejaVu Sans"/>
              </a:rPr>
              <a:t>100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8700" y="5074920"/>
            <a:ext cx="327659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595959"/>
                </a:solidFill>
                <a:latin typeface="DejaVu Sans"/>
              </a:rPr>
              <a:t>make_deck (a21-a24)</a:t>
            </a:r>
          </a:p>
        </p:txBody>
      </p:sp>
      <p:sp>
        <p:nvSpPr>
          <p:cNvPr id="6" name="Rectangle 5"/>
          <p:cNvSpPr/>
          <p:nvPr/>
        </p:nvSpPr>
        <p:spPr>
          <a:xfrm>
            <a:off x="4853940" y="2194560"/>
            <a:ext cx="2453640" cy="2743200"/>
          </a:xfrm>
          <a:prstGeom prst="rect">
            <a:avLst/>
          </a:prstGeom>
          <a:solidFill>
            <a:srgbClr val="5A6B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853940" y="2240280"/>
            <a:ext cx="2453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DejaVu Sans"/>
              </a:rPr>
              <a:t>100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33900" y="5074920"/>
            <a:ext cx="327659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595959"/>
                </a:solidFill>
                <a:latin typeface="DejaVu Sans"/>
              </a:rPr>
              <a:t>check_deck (a21-a24)</a:t>
            </a:r>
          </a:p>
        </p:txBody>
      </p:sp>
      <p:sp>
        <p:nvSpPr>
          <p:cNvPr id="9" name="Rectangle 8"/>
          <p:cNvSpPr/>
          <p:nvPr/>
        </p:nvSpPr>
        <p:spPr>
          <a:xfrm>
            <a:off x="8359139" y="2194560"/>
            <a:ext cx="2453640" cy="2743200"/>
          </a:xfrm>
          <a:prstGeom prst="rect">
            <a:avLst/>
          </a:prstGeom>
          <a:solidFill>
            <a:srgbClr val="0F7D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59139" y="2240280"/>
            <a:ext cx="2453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DejaVu Sans"/>
              </a:rPr>
              <a:t>100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39099" y="5074920"/>
            <a:ext cx="327659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595959"/>
                </a:solidFill>
                <a:latin typeface="DejaVu Sans"/>
              </a:rPr>
              <a:t>render + view_image (xác nhận)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12648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95959"/>
                </a:solidFill>
                <a:latin typeface="DejaVu Sans"/>
              </a:rPr>
              <a:t>Nguồn: thống kê lần gọi tool MCP trong khóa học</a:t>
            </a:r>
          </a:p>
        </p:txBody>
      </p:sp>
    </p:spTree>
  </p:cSld>
  <p:transition>
    <p:fade spd="med"/>
  </p:transition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01168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0">
                <a:solidFill>
                  <a:srgbClr val="B0C4DE"/>
                </a:solidFill>
                <a:latin typeface="DejaVu Sans"/>
              </a:rPr>
              <a:t>Thi thử không phải để chứng minh tool đúng,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834640"/>
            <a:ext cx="100584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>
                <a:solidFill>
                  <a:srgbClr val="FFFFFF"/>
                </a:solidFill>
                <a:latin typeface="DejaVu Sans"/>
              </a:rPr>
              <a:t>mà để phát hiện nơi tool sai.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512064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8FA3C7"/>
                </a:solidFill>
                <a:latin typeface="DejaVu Sans"/>
              </a:rPr>
              <a:t>— nguyên tắc thi thử (đề bài khóa học, tiêu chí G)</a:t>
            </a:r>
          </a:p>
        </p:txBody>
      </p:sp>
    </p:spTree>
  </p:cSld>
  <p:transition>
    <p:fade spd="med"/>
  </p:transition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554480"/>
            <a:ext cx="10881360" cy="2011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400" b="1">
                <a:solidFill>
                  <a:srgbClr val="1A1A1A"/>
                </a:solidFill>
                <a:latin typeface="DejaVu Sans"/>
              </a:rPr>
              <a:t>A–G đã kiểm tra lại, đủ điều kiện xin tốt nghiệp.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206240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0">
                <a:solidFill>
                  <a:srgbClr val="595959"/>
                </a:solidFill>
                <a:latin typeface="DejaVu Sans"/>
              </a:rPr>
              <a:t>Bước tiếp: xem kết quả chấm tự động, nếu đủ 7/7 thì đạt</a:t>
            </a:r>
          </a:p>
        </p:txBody>
      </p:sp>
    </p:spTree>
  </p:cSld>
  <p:transition>
    <p:fade spd="med"/>
  </p:transition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