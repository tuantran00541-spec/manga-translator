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DejaVu Sans"/>
              </a:rPr>
              <a:t>Chọn đúng loại biểu đồ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B0C4DE"/>
                </a:solidFill>
                <a:latin typeface="DejaVu Sans"/>
              </a:rPr>
              <a:t>Từng trục, từng mảnh: vì sao chọn, vì sao không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FA3C7"/>
                </a:solidFill>
                <a:latin typeface="DejaVu Sans"/>
              </a:rPr>
              <a:t>Ngày 1 · bộ slide tiếng Việt · palette ba màu</a:t>
            </a:r>
          </a:p>
        </p:txBody>
      </p:sp>
    </p:spTree>
  </p:cSld>
  <p:transition>
    <p:fade spd="med"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Bốn câu hỏi trước khi vẽ biểu đồ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7D70"/>
                </a:solidFill>
                <a:latin typeface="DejaVu San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572768"/>
            <a:ext cx="8686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Thông điệp là gì, không phải dữ liệu là gì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39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7D70"/>
                </a:solidFill>
                <a:latin typeface="DejaVu San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624327"/>
            <a:ext cx="8686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Một trục hay nhiều trục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7D70"/>
                </a:solidFill>
                <a:latin typeface="DejaVu San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3675887"/>
            <a:ext cx="8686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Đường, cột hay mảnh, theo kiểu dữ liệu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09159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7D70"/>
                </a:solidFill>
                <a:latin typeface="DejaVu Sans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4727447"/>
            <a:ext cx="8686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Dọn chi tiết, khoanh vùng nên nhìn</a:t>
            </a:r>
          </a:p>
        </p:txBody>
      </p:sp>
    </p:spTree>
  </p:cSld>
  <p:transition>
    <p:fade spd="med"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Ba loại, ba câu hỏi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54480"/>
            <a:ext cx="3474720" cy="4206240"/>
          </a:xfrm>
          <a:prstGeom prst="rect">
            <a:avLst/>
          </a:prstGeom>
          <a:solidFill>
            <a:srgbClr val="EFF7F5"/>
          </a:solidFill>
          <a:ln>
            <a:solidFill>
              <a:srgbClr val="C9D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26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F7D70"/>
                </a:solidFill>
                <a:latin typeface="DejaVu Sans"/>
              </a:rPr>
              <a:t>Cột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So sánh nhiều nhóm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29260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Cao hơn là lớn hơn; đọc theo chiều dọc; dùng khi so sánh rời rạc.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16552" y="1554480"/>
            <a:ext cx="3474720" cy="4206240"/>
          </a:xfrm>
          <a:prstGeom prst="rect">
            <a:avLst/>
          </a:prstGeom>
          <a:solidFill>
            <a:srgbClr val="EFF7F5"/>
          </a:solidFill>
          <a:ln>
            <a:solidFill>
              <a:srgbClr val="C9D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2" y="1828800"/>
            <a:ext cx="2926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F7D70"/>
                </a:solidFill>
                <a:latin typeface="DejaVu Sans"/>
              </a:rPr>
              <a:t>Đường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0872" y="301752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Xu hướng theo thời gian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3749039"/>
            <a:ext cx="29260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Nối liên tục; cho thấy lên xuống; một trục thời gian ở dưới.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93023" y="1554480"/>
            <a:ext cx="3474720" cy="4206240"/>
          </a:xfrm>
          <a:prstGeom prst="rect">
            <a:avLst/>
          </a:prstGeom>
          <a:solidFill>
            <a:srgbClr val="EFF7F5"/>
          </a:solidFill>
          <a:ln>
            <a:solidFill>
              <a:srgbClr val="C9D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67344" y="1828800"/>
            <a:ext cx="2926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F7D70"/>
                </a:solidFill>
                <a:latin typeface="DejaVu Sans"/>
              </a:rPr>
              <a:t>Mảnh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67344" y="301752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Tỷ lệ trong một tổng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7344" y="3749039"/>
            <a:ext cx="29260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Chỉ nên khi một trục và một tổng; quá ba mảnh là rối.</a:t>
            </a:r>
          </a:p>
        </p:txBody>
      </p:sp>
    </p:spTree>
  </p:cSld>
  <p:transition>
    <p:fade spd="med"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A1A1A"/>
                </a:solidFill>
                <a:latin typeface="DejaVu Sans"/>
              </a:rPr>
              <a:t>Cột hay đường: phụ thuộc trục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5120640" cy="73152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DejaVu Sans"/>
              </a:rPr>
              <a:t>Trục rời rạc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Sản lượng theo nhà máy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79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Doanh số theo vùng miền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Cột đứng, đọc nhanh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463040"/>
            <a:ext cx="5120640" cy="73152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DejaVu Sans"/>
              </a:rPr>
              <a:t>Trục liên tục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56032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Tăng trưởng theo quý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383279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Nhiệt độ theo giờ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20624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Đường, thấy nhịp lên xuống</a:t>
            </a:r>
          </a:p>
        </p:txBody>
      </p:sp>
    </p:spTree>
  </p:cSld>
  <p:transition>
    <p:fade spd="med"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Bốn bước dọn một biểu đồ rối</a:t>
            </a:r>
          </a:p>
        </p:txBody>
      </p:sp>
      <p:sp>
        <p:nvSpPr>
          <p:cNvPr id="3" name="Oval 2"/>
          <p:cNvSpPr/>
          <p:nvPr/>
        </p:nvSpPr>
        <p:spPr>
          <a:xfrm>
            <a:off x="1463040" y="2011680"/>
            <a:ext cx="1097280" cy="1097280"/>
          </a:xfrm>
          <a:prstGeom prst="ellipse">
            <a:avLst/>
          </a:prstGeom>
          <a:solidFill>
            <a:srgbClr val="0F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011680"/>
            <a:ext cx="10972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DejaVu Sans"/>
              </a:rPr>
              <a:t>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60320" y="2560320"/>
            <a:ext cx="1691640" cy="0"/>
          </a:xfrm>
          <a:prstGeom prst="line">
            <a:avLst/>
          </a:prstGeom>
          <a:ln w="25400">
            <a:solidFill>
              <a:srgbClr val="C9DE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66160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Xóa lưới, viền trang</a:t>
            </a:r>
          </a:p>
        </p:txBody>
      </p:sp>
      <p:sp>
        <p:nvSpPr>
          <p:cNvPr id="7" name="Oval 6"/>
          <p:cNvSpPr/>
          <p:nvPr/>
        </p:nvSpPr>
        <p:spPr>
          <a:xfrm>
            <a:off x="4251960" y="2011680"/>
            <a:ext cx="1097280" cy="1097280"/>
          </a:xfrm>
          <a:prstGeom prst="ellipse">
            <a:avLst/>
          </a:prstGeom>
          <a:solidFill>
            <a:srgbClr val="0F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51960" y="2011680"/>
            <a:ext cx="10972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DejaVu Sans"/>
              </a:rPr>
              <a:t>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349240" y="2560320"/>
            <a:ext cx="1691640" cy="0"/>
          </a:xfrm>
          <a:prstGeom prst="line">
            <a:avLst/>
          </a:prstGeom>
          <a:ln w="25400">
            <a:solidFill>
              <a:srgbClr val="C9DE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566160" y="3566160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Chỉnh trục bắt đầu từ 0</a:t>
            </a:r>
          </a:p>
        </p:txBody>
      </p:sp>
      <p:sp>
        <p:nvSpPr>
          <p:cNvPr id="11" name="Oval 10"/>
          <p:cNvSpPr/>
          <p:nvPr/>
        </p:nvSpPr>
        <p:spPr>
          <a:xfrm>
            <a:off x="7040880" y="2011680"/>
            <a:ext cx="1097280" cy="1097280"/>
          </a:xfrm>
          <a:prstGeom prst="ellipse">
            <a:avLst/>
          </a:prstGeom>
          <a:solidFill>
            <a:srgbClr val="0F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2011680"/>
            <a:ext cx="10972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DejaVu Sans"/>
              </a:rP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138160" y="2560320"/>
            <a:ext cx="1691640" cy="0"/>
          </a:xfrm>
          <a:prstGeom prst="line">
            <a:avLst/>
          </a:prstGeom>
          <a:ln w="25400">
            <a:solidFill>
              <a:srgbClr val="C9DE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55080" y="3566160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Chỉ highlight số quan trọng</a:t>
            </a:r>
          </a:p>
        </p:txBody>
      </p:sp>
      <p:sp>
        <p:nvSpPr>
          <p:cNvPr id="15" name="Oval 14"/>
          <p:cNvSpPr/>
          <p:nvPr/>
        </p:nvSpPr>
        <p:spPr>
          <a:xfrm>
            <a:off x="9829799" y="2011680"/>
            <a:ext cx="1097280" cy="1097280"/>
          </a:xfrm>
          <a:prstGeom prst="ellipse">
            <a:avLst/>
          </a:prstGeom>
          <a:solidFill>
            <a:srgbClr val="0F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29799" y="2011680"/>
            <a:ext cx="10972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DejaVu San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3999" y="3566160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Ghép tiêu đề thành câu</a:t>
            </a:r>
          </a:p>
        </p:txBody>
      </p:sp>
    </p:spTree>
  </p:cSld>
  <p:transition>
    <p:fade spd="med"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A1A1A"/>
                </a:solidFill>
                <a:latin typeface="DejaVu Sans"/>
              </a:rPr>
              <a:t>Ví dụ mẫu: một trục, một message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1138428" y="4018134"/>
            <a:ext cx="1472184" cy="919625"/>
          </a:xfrm>
          <a:prstGeom prst="rect">
            <a:avLst/>
          </a:prstGeom>
          <a:solidFill>
            <a:srgbClr val="8FA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8428" y="3606654"/>
            <a:ext cx="1472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8388" y="5074920"/>
            <a:ext cx="22951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T1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41548" y="3474720"/>
            <a:ext cx="1472184" cy="1463040"/>
          </a:xfrm>
          <a:prstGeom prst="rect">
            <a:avLst/>
          </a:prstGeom>
          <a:solidFill>
            <a:srgbClr val="8FA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41548" y="3063240"/>
            <a:ext cx="1472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1508" y="5074920"/>
            <a:ext cx="22951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T2</a:t>
            </a:r>
          </a:p>
        </p:txBody>
      </p:sp>
      <p:sp>
        <p:nvSpPr>
          <p:cNvPr id="9" name="Rectangle 8"/>
          <p:cNvSpPr/>
          <p:nvPr/>
        </p:nvSpPr>
        <p:spPr>
          <a:xfrm>
            <a:off x="5344668" y="3223913"/>
            <a:ext cx="1472184" cy="1713846"/>
          </a:xfrm>
          <a:prstGeom prst="rect">
            <a:avLst/>
          </a:prstGeom>
          <a:solidFill>
            <a:srgbClr val="8FA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4668" y="2812433"/>
            <a:ext cx="1472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4628" y="5074920"/>
            <a:ext cx="22951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T3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47788" y="2513293"/>
            <a:ext cx="1472184" cy="2424466"/>
          </a:xfrm>
          <a:prstGeom prst="rect">
            <a:avLst/>
          </a:prstGeom>
          <a:solidFill>
            <a:srgbClr val="8FA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47788" y="2101813"/>
            <a:ext cx="1472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58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7748" y="5074920"/>
            <a:ext cx="22951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T4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50908" y="2304288"/>
            <a:ext cx="1472184" cy="2633472"/>
          </a:xfrm>
          <a:prstGeom prst="rect">
            <a:avLst/>
          </a:prstGeom>
          <a:solidFill>
            <a:srgbClr val="0F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50908" y="1892807"/>
            <a:ext cx="1472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63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0868" y="5074920"/>
            <a:ext cx="22951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T5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DejaVu Sans"/>
              </a:rPr>
              <a:t>Nguồn: số minh họa, không phải dữ liệu thật; chỉ để demo bố cục</a:t>
            </a:r>
          </a:p>
        </p:txBody>
      </p:sp>
    </p:spTree>
  </p:cSld>
  <p:transition>
    <p:fade spd="med"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B0C4DE"/>
                </a:solidFill>
                <a:latin typeface="DejaVu Sans"/>
              </a:rPr>
              <a:t>Nếu biểu đồ cần chú thích dài,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83464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DejaVu Sans"/>
              </a:rPr>
              <a:t>thường là chưa đúng loại.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1206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FA3C7"/>
                </a:solidFill>
                <a:latin typeface="DejaVu Sans"/>
              </a:rPr>
              <a:t>— nguyên tắc làm việc của Cole Knaflic (RESEARCH.md mục 7)</a:t>
            </a:r>
          </a:p>
        </p:txBody>
      </p:sp>
    </p:spTree>
  </p:cSld>
  <p:transition>
    <p:fade spd="med"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88136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A1A1A"/>
                </a:solidFill>
                <a:latin typeface="DejaVu Sans"/>
              </a:rPr>
              <a:t>Chọn theo trục,</a:t>
            </a:r>
          </a:p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A1A1A"/>
                </a:solidFill>
                <a:latin typeface="DejaVu Sans"/>
              </a:rPr>
              <a:t>dọn theo message.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595959"/>
                </a:solidFill>
                <a:latin typeface="DejaVu Sans"/>
              </a:rPr>
              <a:t>Bước tiếp theo: gói checklist mười điểm thành tool tự kiểm</a:t>
            </a:r>
          </a:p>
        </p:txBody>
      </p:sp>
    </p:spTree>
  </p:cSld>
  <p:transition>
    <p:fade spd="med"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