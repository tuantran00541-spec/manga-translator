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011680"/>
            <a:ext cx="108813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Anatomy của một bộ slide chuẩn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0">
                <a:solidFill>
                  <a:srgbClr val="B0C4DE"/>
                </a:solidFill>
                <a:latin typeface="DejaVu Sans"/>
              </a:rPr>
              <a:t>8 mẫu dùng được ngay, mỗi mẫu một slide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6126480"/>
            <a:ext cx="108813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8FA3C7"/>
                </a:solidFill>
                <a:latin typeface="DejaVu Sans"/>
              </a:rPr>
              <a:t>Ngày 1 · bộ thứ 2 · nền: RESEARCH.md mục 8</a:t>
            </a:r>
          </a:p>
        </p:txBody>
      </p:sp>
    </p:spTree>
  </p:cSld>
  <p:transition>
    <p:fade spd="med"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1A1A1A"/>
                </a:solidFill>
                <a:latin typeface="DejaVu Sans"/>
              </a:rPr>
              <a:t>Bản đồ 8 mẫu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120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01 Bìa và chữ phụ đề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697480"/>
            <a:ext cx="5120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02 Mục lục đánh số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3840480"/>
            <a:ext cx="5120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03 Thẻ số liệu (bento)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5120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04 So sánh hai cột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120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05 Quy trình 4 bước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697480"/>
            <a:ext cx="5120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06 Biểu đồ cột + tiêu đề hành động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3840480"/>
            <a:ext cx="5120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07 Trích dẫn làm điểm nhấn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983480"/>
            <a:ext cx="512064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1A1A1A"/>
                </a:solidFill>
                <a:latin typeface="DejaVu Sans"/>
              </a:rPr>
              <a:t>08 Kết luận và hành động</a:t>
            </a:r>
          </a:p>
        </p:txBody>
      </p:sp>
    </p:spTree>
  </p:cSld>
  <p:transition>
    <p:fade spd="med"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Mẫu thẻ: một ô, một con số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B5ED7"/>
                </a:solidFill>
                <a:latin typeface="DejaVu Sans"/>
              </a:rPr>
              <a:t>70%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diện tích slide cho biểu đồ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84048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Tiêu đề hành động + biểu đồ; không thêm text box nào khác.</a:t>
            </a:r>
          </a:p>
        </p:txBody>
      </p:sp>
      <p:sp>
        <p:nvSpPr>
          <p:cNvPr id="7" name="Rectangle 6"/>
          <p:cNvSpPr/>
          <p:nvPr/>
        </p:nvSpPr>
        <p:spPr>
          <a:xfrm>
            <a:off x="4416552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690872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B5ED7"/>
                </a:solidFill>
                <a:latin typeface="DejaVu Sans"/>
              </a:rPr>
              <a:t>6 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90872" y="310896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sàn của lưới bento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90872" y="384048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Ô vuông vức cùng chiều cao, viền mỏng phân tách.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93023" y="1554480"/>
            <a:ext cx="3474720" cy="4023360"/>
          </a:xfrm>
          <a:prstGeom prst="rect">
            <a:avLst/>
          </a:prstGeom>
          <a:solidFill>
            <a:srgbClr val="F2F5FA"/>
          </a:solidFill>
          <a:ln>
            <a:solidFill>
              <a:srgbClr val="D0D9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67344" y="1828800"/>
            <a:ext cx="29260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5400" b="1">
                <a:solidFill>
                  <a:srgbClr val="0B5ED7"/>
                </a:solidFill>
                <a:latin typeface="DejaVu Sans"/>
              </a:rPr>
              <a:t>3 cột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67344" y="3108960"/>
            <a:ext cx="2926080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giới hạn so sánh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67344" y="3840480"/>
            <a:ext cx="29260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595959"/>
                </a:solidFill>
                <a:latin typeface="DejaVu Sans"/>
              </a:rPr>
              <a:t>Tiêu đề cột ≤3 từ, mỗi cột ≤3 gạch đầu dòng.</a:t>
            </a:r>
          </a:p>
        </p:txBody>
      </p:sp>
    </p:spTree>
  </p:cSld>
  <p:transition>
    <p:fade spd="med"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Mẫu so sánh: hai lựa chọn, tiêu đề hành động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463040"/>
            <a:ext cx="5120640" cy="73152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Cách cũ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Đổ chữ, bullet dài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3 trục trong 1 biểu đồ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Thiếu nguồn dữ liệu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120640" cy="73152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55448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DejaVu Sans"/>
              </a:rPr>
              <a:t>Cách mới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56032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Tiêu đề là kết luận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3383279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Một trục, một message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4206240"/>
            <a:ext cx="45720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1A1A1A"/>
                </a:solidFill>
                <a:latin typeface="DejaVu Sans"/>
              </a:rPr>
              <a:t>· Mỗi số có nguồn</a:t>
            </a:r>
          </a:p>
        </p:txBody>
      </p:sp>
    </p:spTree>
  </p:cSld>
  <p:transition>
    <p:fade spd="med"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3000" b="1">
                <a:solidFill>
                  <a:srgbClr val="1A1A1A"/>
                </a:solidFill>
                <a:latin typeface="DejaVu Sans"/>
              </a:rPr>
              <a:t>Mẫu quy trình: 4 bước, số ở tâm mỗi nút</a:t>
            </a:r>
          </a:p>
        </p:txBody>
      </p:sp>
      <p:sp>
        <p:nvSpPr>
          <p:cNvPr id="3" name="Oval 2"/>
          <p:cNvSpPr/>
          <p:nvPr/>
        </p:nvSpPr>
        <p:spPr>
          <a:xfrm>
            <a:off x="1463040" y="219456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463040" y="219456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1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2560320" y="274320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777240" y="3749039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Chọn thông điệp</a:t>
            </a:r>
          </a:p>
        </p:txBody>
      </p:sp>
      <p:sp>
        <p:nvSpPr>
          <p:cNvPr id="7" name="Oval 6"/>
          <p:cNvSpPr/>
          <p:nvPr/>
        </p:nvSpPr>
        <p:spPr>
          <a:xfrm>
            <a:off x="4251960" y="219456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251960" y="219456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349240" y="274320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66160" y="3749039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Chọn đúng loại biểu đồ</a:t>
            </a:r>
          </a:p>
        </p:txBody>
      </p:sp>
      <p:sp>
        <p:nvSpPr>
          <p:cNvPr id="11" name="Oval 10"/>
          <p:cNvSpPr/>
          <p:nvPr/>
        </p:nvSpPr>
        <p:spPr>
          <a:xfrm>
            <a:off x="7040880" y="219456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040880" y="219456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3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8138160" y="2743200"/>
            <a:ext cx="1691640" cy="0"/>
          </a:xfrm>
          <a:prstGeom prst="line">
            <a:avLst/>
          </a:prstGeom>
          <a:ln w="25400">
            <a:solidFill>
              <a:srgbClr val="D0D9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355080" y="3749039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Dọn chi tiết thừa</a:t>
            </a:r>
          </a:p>
        </p:txBody>
      </p:sp>
      <p:sp>
        <p:nvSpPr>
          <p:cNvPr id="15" name="Oval 14"/>
          <p:cNvSpPr/>
          <p:nvPr/>
        </p:nvSpPr>
        <p:spPr>
          <a:xfrm>
            <a:off x="9829799" y="2194560"/>
            <a:ext cx="1097280" cy="1097280"/>
          </a:xfrm>
          <a:prstGeom prst="ellipse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29799" y="2194560"/>
            <a:ext cx="109728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200" b="1">
                <a:solidFill>
                  <a:srgbClr val="FFFFFF"/>
                </a:solidFill>
                <a:latin typeface="DejaVu Sans"/>
              </a:rPr>
              <a:t>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3999" y="3749039"/>
            <a:ext cx="21488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600" b="0">
                <a:solidFill>
                  <a:srgbClr val="1A1A1A"/>
                </a:solidFill>
                <a:latin typeface="DejaVu Sans"/>
              </a:rPr>
              <a:t>Ghép vào kể chuyện</a:t>
            </a:r>
          </a:p>
        </p:txBody>
      </p:sp>
    </p:spTree>
  </p:cSld>
  <p:transition>
    <p:fade spd="med"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800" b="1">
                <a:solidFill>
                  <a:srgbClr val="1A1A1A"/>
                </a:solidFill>
                <a:latin typeface="DejaVu Sans"/>
              </a:rPr>
              <a:t>Slide mẫu: "Tương phản đủ cao mới đọc được"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5850" y="2457450"/>
            <a:ext cx="1226820" cy="2480310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5850" y="2045970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15.5%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5810" y="5074920"/>
            <a:ext cx="20497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Trắng/đen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#1A1A1A</a:t>
            </a:r>
          </a:p>
        </p:txBody>
      </p:sp>
      <p:sp>
        <p:nvSpPr>
          <p:cNvPr id="6" name="Rectangle 5"/>
          <p:cNvSpPr/>
          <p:nvPr/>
        </p:nvSpPr>
        <p:spPr>
          <a:xfrm>
            <a:off x="2838450" y="2649474"/>
            <a:ext cx="1226820" cy="2288286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838450" y="2237994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14.3%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8410" y="5074920"/>
            <a:ext cx="20497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Trắng/navy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#1F2A44</a:t>
            </a:r>
          </a:p>
        </p:txBody>
      </p:sp>
      <p:sp>
        <p:nvSpPr>
          <p:cNvPr id="9" name="Rectangle 8"/>
          <p:cNvSpPr/>
          <p:nvPr/>
        </p:nvSpPr>
        <p:spPr>
          <a:xfrm>
            <a:off x="4591050" y="3817620"/>
            <a:ext cx="1226820" cy="1120139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1050" y="3406140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7.0%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1010" y="5074920"/>
            <a:ext cx="20497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Trắng/xám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#595959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343650" y="4009644"/>
            <a:ext cx="1226820" cy="928115"/>
          </a:xfrm>
          <a:prstGeom prst="rect">
            <a:avLst/>
          </a:prstGeom>
          <a:solidFill>
            <a:srgbClr val="0B5ED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43650" y="3598164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5.8%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23610" y="5074920"/>
            <a:ext cx="20497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Trắng/xanh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#0B5ED7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6249" y="4217670"/>
            <a:ext cx="1226820" cy="720090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96249" y="3806190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4.5%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6210" y="5074920"/>
            <a:ext cx="20497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Trắng/xám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#767676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848850" y="4713732"/>
            <a:ext cx="1226820" cy="224027"/>
          </a:xfrm>
          <a:prstGeom prst="rect">
            <a:avLst/>
          </a:prstGeom>
          <a:solidFill>
            <a:srgbClr val="5A6B8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48850" y="4302252"/>
            <a:ext cx="12268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1A1A1A"/>
                </a:solidFill>
                <a:latin typeface="DejaVu Sans"/>
              </a:rPr>
              <a:t>1.4%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28810" y="5074920"/>
            <a:ext cx="20497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Trắng/vàng</a:t>
            </a:r>
          </a:p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#FFD400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822960" y="4217670"/>
            <a:ext cx="10515600" cy="0"/>
          </a:xfrm>
          <a:prstGeom prst="line">
            <a:avLst/>
          </a:prstGeom>
          <a:ln w="12700">
            <a:solidFill>
              <a:srgbClr val="8A97B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9692640" y="3897630"/>
            <a:ext cx="1645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sàn 4.5:1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035040"/>
            <a:ext cx="10881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95959"/>
                </a:solidFill>
                <a:latin typeface="DejaVu Sans"/>
              </a:rPr>
              <a:t>Nguồn: tính bằng công thức WCAG (RESEARCH.md mục 5)</a:t>
            </a:r>
          </a:p>
        </p:txBody>
      </p:sp>
    </p:spTree>
  </p:cSld>
  <p:transition>
    <p:fade spd="med"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F2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0">
                <a:solidFill>
                  <a:srgbClr val="B0C4DE"/>
                </a:solidFill>
                <a:latin typeface="DejaVu Sans"/>
              </a:rPr>
              <a:t>Khi không thể cắt bớt thông tin,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834640"/>
            <a:ext cx="1005840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DejaVu Sans"/>
              </a:rPr>
              <a:t>cắt bớt ý, đừng cắt bớt chữ.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120640"/>
            <a:ext cx="10058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FA3C7"/>
                </a:solidFill>
                <a:latin typeface="DejaVu Sans"/>
              </a:rPr>
              <a:t>— nguyên tắc một thông điệp mỗi slide (Deckary)</a:t>
            </a:r>
          </a:p>
        </p:txBody>
      </p:sp>
    </p:spTree>
  </p:cSld>
  <p:transition>
    <p:fade spd="med"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11680"/>
            <a:ext cx="10881360" cy="1280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DejaVu Sans"/>
              </a:rPr>
              <a:t>8 mẫu, 1 bộ quy tắc,</a:t>
            </a:r>
          </a:p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1A1A1A"/>
                </a:solidFill>
                <a:latin typeface="DejaVu Sans"/>
              </a:rPr>
              <a:t>các bộ slide sau sẽ ghép lại theo lưới.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420624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595959"/>
                </a:solidFill>
                <a:latin typeface="DejaVu Sans"/>
              </a:rPr>
              <a:t>Bước tiếp theo: làm bộ slide số liệu (chart) + bộ tiếng Việt có dấu</a:t>
            </a:r>
          </a:p>
        </p:txBody>
      </p:sp>
    </p:spTree>
  </p:cSld>
  <p:transition>
    <p:fade spd="med"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