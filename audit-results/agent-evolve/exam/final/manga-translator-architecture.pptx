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737360"/>
            <a:ext cx="108813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FFFFFF"/>
                </a:solidFill>
                <a:latin typeface="DejaVu Sans"/>
              </a:rPr>
              <a:t>Manga Translator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56616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B0C4DE"/>
                </a:solidFill>
                <a:latin typeface="DejaVu Sans"/>
              </a:rPr>
              <a:t>Kiến trúc hệ thống &amp; cây thư mục — Python · FastAPI · ONNX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12648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8FA3C7"/>
                </a:solidFill>
                <a:latin typeface="DejaVu Sans"/>
              </a:rPr>
              <a:t>Phân tích repo mã nguồn mở (2026)</a:t>
            </a:r>
          </a:p>
        </p:txBody>
      </p:sp>
    </p:spTree>
  </p:cSld>
  <p:transition>
    <p:fade spd="med"/>
  </p:transition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1A1A"/>
                </a:solidFill>
                <a:latin typeface="DejaVu Sans"/>
              </a:rPr>
              <a:t>Nội dung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822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B5ED7"/>
                </a:solidFill>
                <a:latin typeface="DejaVu Sans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1664208"/>
            <a:ext cx="8686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1A1A1A"/>
                </a:solidFill>
                <a:latin typeface="DejaVu Sans"/>
              </a:rPr>
              <a:t>Thư mục và vai trò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14600"/>
            <a:ext cx="822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B5ED7"/>
                </a:solidFill>
                <a:latin typeface="DejaVu Sans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2532888"/>
            <a:ext cx="8686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1A1A1A"/>
                </a:solidFill>
                <a:latin typeface="DejaVu Sans"/>
              </a:rPr>
              <a:t>Sơ đồ kiến trúc tổng quát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383280"/>
            <a:ext cx="822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B5ED7"/>
                </a:solidFill>
                <a:latin typeface="DejaVu Sans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3401568"/>
            <a:ext cx="8686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1A1A1A"/>
                </a:solidFill>
                <a:latin typeface="DejaVu Sans"/>
              </a:rPr>
              <a:t>Đi sâu 5 lớp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251959"/>
            <a:ext cx="822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B5ED7"/>
                </a:solidFill>
                <a:latin typeface="DejaVu Sans"/>
              </a:rPr>
              <a:t>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4270247"/>
            <a:ext cx="8686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1A1A1A"/>
                </a:solidFill>
                <a:latin typeface="DejaVu Sans"/>
              </a:rPr>
              <a:t>Luồng xử lý một chương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120640"/>
            <a:ext cx="822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B5ED7"/>
                </a:solidFill>
                <a:latin typeface="DejaVu Sans"/>
              </a:rPr>
              <a:t>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5138927"/>
            <a:ext cx="8686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1A1A1A"/>
                </a:solidFill>
                <a:latin typeface="DejaVu Sans"/>
              </a:rPr>
              <a:t>Điểm mạnh, rủi ro, kết luận</a:t>
            </a:r>
          </a:p>
        </p:txBody>
      </p:sp>
    </p:spTree>
  </p:cSld>
  <p:transition>
    <p:fade spd="med"/>
  </p:transition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1A1A"/>
                </a:solidFill>
                <a:latin typeface="DejaVu Sans"/>
              </a:rPr>
              <a:t>Thư mục top-level: vai trò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554480"/>
            <a:ext cx="5362956" cy="64008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5362956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DejaVu Sans"/>
              </a:rPr>
              <a:t>Thư mục</a:t>
            </a:r>
          </a:p>
        </p:txBody>
      </p:sp>
      <p:sp>
        <p:nvSpPr>
          <p:cNvPr id="5" name="Rectangle 4"/>
          <p:cNvSpPr/>
          <p:nvPr/>
        </p:nvSpPr>
        <p:spPr>
          <a:xfrm>
            <a:off x="6185916" y="1554480"/>
            <a:ext cx="5362956" cy="64008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85916" y="1554480"/>
            <a:ext cx="5362956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DejaVu Sans"/>
              </a:rPr>
              <a:t>Vai trò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331720"/>
            <a:ext cx="5362956" cy="640080"/>
          </a:xfrm>
          <a:prstGeom prst="rect">
            <a:avLst/>
          </a:prstGeom>
          <a:solidFill>
            <a:srgbClr val="F2F5FA"/>
          </a:solidFill>
          <a:ln>
            <a:solidFill>
              <a:srgbClr val="D0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19" y="2331720"/>
            <a:ext cx="5180076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1A1A1A"/>
                </a:solidFill>
                <a:latin typeface="DejaVu Sans"/>
              </a:rPr>
              <a:t>app/</a:t>
            </a:r>
          </a:p>
        </p:txBody>
      </p:sp>
      <p:sp>
        <p:nvSpPr>
          <p:cNvPr id="9" name="Rectangle 8"/>
          <p:cNvSpPr/>
          <p:nvPr/>
        </p:nvSpPr>
        <p:spPr>
          <a:xfrm>
            <a:off x="6185916" y="2331720"/>
            <a:ext cx="5362956" cy="640080"/>
          </a:xfrm>
          <a:prstGeom prst="rect">
            <a:avLst/>
          </a:prstGeom>
          <a:solidFill>
            <a:srgbClr val="F2F5FA"/>
          </a:solidFill>
          <a:ln>
            <a:solidFill>
              <a:srgbClr val="D0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77356" y="2331720"/>
            <a:ext cx="5180076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1A1A1A"/>
                </a:solidFill>
                <a:latin typeface="DejaVu Sans"/>
              </a:rPr>
              <a:t>Toàn bộ ứng dụng: FastAPI, pipeline, detector, OCR, render, UI tĩnh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108960"/>
            <a:ext cx="5362956" cy="640080"/>
          </a:xfrm>
          <a:prstGeom prst="rect">
            <a:avLst/>
          </a:prstGeom>
          <a:solidFill>
            <a:srgbClr val="FFFFFF"/>
          </a:solidFill>
          <a:ln>
            <a:solidFill>
              <a:srgbClr val="D0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19" y="3108960"/>
            <a:ext cx="5180076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1A1A1A"/>
                </a:solidFill>
                <a:latin typeface="DejaVu Sans"/>
              </a:rPr>
              <a:t>models/ · data/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85916" y="3108960"/>
            <a:ext cx="5362956" cy="640080"/>
          </a:xfrm>
          <a:prstGeom prst="rect">
            <a:avLst/>
          </a:prstGeom>
          <a:solidFill>
            <a:srgbClr val="FFFFFF"/>
          </a:solidFill>
          <a:ln>
            <a:solidFill>
              <a:srgbClr val="D0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77356" y="3108960"/>
            <a:ext cx="5180076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1A1A1A"/>
                </a:solidFill>
                <a:latin typeface="DejaVu Sans"/>
              </a:rPr>
              <a:t>ONNX Kiuyha; data: raw, processed, output, temp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886200"/>
            <a:ext cx="5362956" cy="640080"/>
          </a:xfrm>
          <a:prstGeom prst="rect">
            <a:avLst/>
          </a:prstGeom>
          <a:solidFill>
            <a:srgbClr val="F2F5FA"/>
          </a:solidFill>
          <a:ln>
            <a:solidFill>
              <a:srgbClr val="D0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19" y="3886200"/>
            <a:ext cx="5180076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1A1A1A"/>
                </a:solidFill>
                <a:latin typeface="DejaVu Sans"/>
              </a:rPr>
              <a:t>docs/ · tests/ · scripts/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85916" y="3886200"/>
            <a:ext cx="5362956" cy="640080"/>
          </a:xfrm>
          <a:prstGeom prst="rect">
            <a:avLst/>
          </a:prstGeom>
          <a:solidFill>
            <a:srgbClr val="F2F5FA"/>
          </a:solidFill>
          <a:ln>
            <a:solidFill>
              <a:srgbClr val="D0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77356" y="3886200"/>
            <a:ext cx="5180076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1A1A1A"/>
                </a:solidFill>
                <a:latin typeface="DejaVu Sans"/>
              </a:rPr>
              <a:t>ARCHITECTURE.md; pytest; run.py, dev.py, dev_backend.py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126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95959"/>
                </a:solidFill>
                <a:latin typeface="DejaVu Sans"/>
              </a:rPr>
              <a:t>Nguồn: kết quả list_dir repo gốc (2026-07)</a:t>
            </a:r>
          </a:p>
        </p:txBody>
      </p:sp>
    </p:spTree>
  </p:cSld>
  <p:transition>
    <p:fade spd="med"/>
  </p:transition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1A1A"/>
                </a:solidFill>
                <a:latin typeface="DejaVu Sans"/>
              </a:rPr>
              <a:t>Kiến trúc tổng quát 5 lớp</a:t>
            </a:r>
          </a:p>
        </p:txBody>
      </p:sp>
      <p:sp>
        <p:nvSpPr>
          <p:cNvPr id="3" name="Rectangle 2"/>
          <p:cNvSpPr/>
          <p:nvPr/>
        </p:nvSpPr>
        <p:spPr>
          <a:xfrm>
            <a:off x="2926080" y="1554480"/>
            <a:ext cx="6309360" cy="9144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0" y="1554480"/>
            <a:ext cx="63093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DejaVu Sans"/>
              </a:rPr>
              <a:t>FastAPI app/main.py + app/dependencies.py (điều phối)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2468880"/>
            <a:ext cx="0" cy="640080"/>
          </a:xfrm>
          <a:prstGeom prst="line">
            <a:avLst/>
          </a:prstGeom>
          <a:ln w="25400">
            <a:solidFill>
              <a:srgbClr val="D0D9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822960" y="3108960"/>
            <a:ext cx="2423160" cy="822960"/>
          </a:xfrm>
          <a:prstGeom prst="rect">
            <a:avLst/>
          </a:prstGeom>
          <a:solidFill>
            <a:srgbClr val="F2F5FA"/>
          </a:solidFill>
          <a:ln>
            <a:solidFill>
              <a:srgbClr val="D0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108960"/>
            <a:ext cx="24231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1A1A1A"/>
                </a:solidFill>
                <a:latin typeface="DejaVu Sans"/>
              </a:rPr>
              <a:t>Lớp 1 · UI (app/static)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034540" y="3931920"/>
            <a:ext cx="0" cy="640080"/>
          </a:xfrm>
          <a:prstGeom prst="line">
            <a:avLst/>
          </a:prstGeom>
          <a:ln w="12700">
            <a:solidFill>
              <a:srgbClr val="D0D9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20439" y="3108960"/>
            <a:ext cx="2423160" cy="822960"/>
          </a:xfrm>
          <a:prstGeom prst="rect">
            <a:avLst/>
          </a:prstGeom>
          <a:solidFill>
            <a:srgbClr val="F2F5FA"/>
          </a:solidFill>
          <a:ln>
            <a:solidFill>
              <a:srgbClr val="D0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39" y="3108960"/>
            <a:ext cx="24231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1A1A1A"/>
                </a:solidFill>
                <a:latin typeface="DejaVu Sans"/>
              </a:rPr>
              <a:t>Lớp 2 · API (app/routers)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732020" y="3931920"/>
            <a:ext cx="0" cy="640080"/>
          </a:xfrm>
          <a:prstGeom prst="line">
            <a:avLst/>
          </a:prstGeom>
          <a:ln w="12700">
            <a:solidFill>
              <a:srgbClr val="D0D9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6217920" y="3108960"/>
            <a:ext cx="2423160" cy="822960"/>
          </a:xfrm>
          <a:prstGeom prst="rect">
            <a:avLst/>
          </a:prstGeom>
          <a:solidFill>
            <a:srgbClr val="F2F5FA"/>
          </a:solidFill>
          <a:ln>
            <a:solidFill>
              <a:srgbClr val="D0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3108960"/>
            <a:ext cx="24231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1A1A1A"/>
                </a:solidFill>
                <a:latin typeface="DejaVu Sans"/>
              </a:rPr>
              <a:t>Lớp 3 · Core (pipeline)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429500" y="3931920"/>
            <a:ext cx="0" cy="640080"/>
          </a:xfrm>
          <a:prstGeom prst="line">
            <a:avLst/>
          </a:prstGeom>
          <a:ln w="12700">
            <a:solidFill>
              <a:srgbClr val="D0D9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8915400" y="3108960"/>
            <a:ext cx="2423160" cy="822960"/>
          </a:xfrm>
          <a:prstGeom prst="rect">
            <a:avLst/>
          </a:prstGeom>
          <a:solidFill>
            <a:srgbClr val="F2F5FA"/>
          </a:solidFill>
          <a:ln>
            <a:solidFill>
              <a:srgbClr val="D0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15400" y="3108960"/>
            <a:ext cx="24231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1A1A1A"/>
                </a:solidFill>
                <a:latin typeface="DejaVu Sans"/>
              </a:rPr>
              <a:t>Lớp 4+5 · AI + OCR/Render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0126980" y="3931920"/>
            <a:ext cx="0" cy="640080"/>
          </a:xfrm>
          <a:prstGeom prst="line">
            <a:avLst/>
          </a:prstGeom>
          <a:ln w="12700">
            <a:solidFill>
              <a:srgbClr val="D0D9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22960" y="4572000"/>
            <a:ext cx="2423160" cy="640080"/>
          </a:xfrm>
          <a:prstGeom prst="rect">
            <a:avLst/>
          </a:prstGeom>
          <a:solidFill>
            <a:srgbClr val="FFFFFF"/>
          </a:solidFill>
          <a:ln>
            <a:solidFill>
              <a:srgbClr val="D0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572000"/>
            <a:ext cx="24231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595959"/>
                </a:solidFill>
                <a:latin typeface="DejaVu Sans"/>
              </a:rPr>
              <a:t>preview · review · editor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20439" y="4572000"/>
            <a:ext cx="2423160" cy="640080"/>
          </a:xfrm>
          <a:prstGeom prst="rect">
            <a:avLst/>
          </a:prstGeom>
          <a:solidFill>
            <a:srgbClr val="FFFFFF"/>
          </a:solidFill>
          <a:ln>
            <a:solidFill>
              <a:srgbClr val="D0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20439" y="4572000"/>
            <a:ext cx="24231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595959"/>
                </a:solidFill>
                <a:latin typeface="DejaVu Sans"/>
              </a:rPr>
              <a:t>14 router, an toàn upload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4572000"/>
            <a:ext cx="2423160" cy="640080"/>
          </a:xfrm>
          <a:prstGeom prst="rect">
            <a:avLst/>
          </a:prstGeom>
          <a:solidFill>
            <a:srgbClr val="FFFFFF"/>
          </a:solidFill>
          <a:ln>
            <a:solidFill>
              <a:srgbClr val="D0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0" y="4572000"/>
            <a:ext cx="24231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595959"/>
                </a:solidFill>
                <a:latin typeface="DejaVu Sans"/>
              </a:rPr>
              <a:t>pipeline.py 817 dòng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15400" y="4572000"/>
            <a:ext cx="2423160" cy="640080"/>
          </a:xfrm>
          <a:prstGeom prst="rect">
            <a:avLst/>
          </a:prstGeom>
          <a:solidFill>
            <a:srgbClr val="FFFFFF"/>
          </a:solidFill>
          <a:ln>
            <a:solidFill>
              <a:srgbClr val="D0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15400" y="4572000"/>
            <a:ext cx="24231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595959"/>
                </a:solidFill>
                <a:latin typeface="DejaVu Sans"/>
              </a:rPr>
              <a:t>detector · inpaint · ocr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126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95959"/>
                </a:solidFill>
                <a:latin typeface="DejaVu Sans"/>
              </a:rPr>
              <a:t>Mối ghép: HTTP/JSON ở giữa UI và Core</a:t>
            </a:r>
          </a:p>
        </p:txBody>
      </p:sp>
    </p:spTree>
  </p:cSld>
  <p:transition>
    <p:fade spd="med"/>
  </p:transition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1A1A"/>
                </a:solidFill>
                <a:latin typeface="DejaVu Sans"/>
              </a:rPr>
              <a:t>Lớp 1 — Frontend: app/static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63040"/>
            <a:ext cx="5120640" cy="4023360"/>
          </a:xfrm>
          <a:prstGeom prst="rect">
            <a:avLst/>
          </a:prstGeom>
          <a:solidFill>
            <a:srgbClr val="F2F5FA"/>
          </a:solidFill>
          <a:ln>
            <a:solidFill>
              <a:srgbClr val="D0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463040"/>
            <a:ext cx="5120640" cy="731520"/>
          </a:xfrm>
          <a:prstGeom prst="rect">
            <a:avLst/>
          </a:prstGeom>
          <a:solidFill>
            <a:srgbClr val="5A6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45720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DejaVu Sans"/>
              </a:rPr>
              <a:t>UI 3 màn hình</a:t>
            </a:r>
          </a:p>
        </p:txBody>
      </p:sp>
      <p:sp>
        <p:nvSpPr>
          <p:cNvPr id="6" name="Oval 5"/>
          <p:cNvSpPr/>
          <p:nvPr/>
        </p:nvSpPr>
        <p:spPr>
          <a:xfrm>
            <a:off x="960119" y="2578608"/>
            <a:ext cx="182880" cy="182880"/>
          </a:xfrm>
          <a:prstGeom prst="ellipse">
            <a:avLst/>
          </a:prstGeom>
          <a:solidFill>
            <a:srgbClr val="5A6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98448" y="2468880"/>
            <a:ext cx="4160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1A1A1A"/>
                </a:solidFill>
                <a:latin typeface="DejaVu Sans"/>
              </a:rPr>
              <a:t>preview.js: xem trang đã slice</a:t>
            </a:r>
          </a:p>
        </p:txBody>
      </p:sp>
      <p:sp>
        <p:nvSpPr>
          <p:cNvPr id="8" name="Oval 7"/>
          <p:cNvSpPr/>
          <p:nvPr/>
        </p:nvSpPr>
        <p:spPr>
          <a:xfrm>
            <a:off x="960119" y="3538728"/>
            <a:ext cx="182880" cy="182880"/>
          </a:xfrm>
          <a:prstGeom prst="ellipse">
            <a:avLst/>
          </a:prstGeom>
          <a:solidFill>
            <a:srgbClr val="5A6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98448" y="3429000"/>
            <a:ext cx="4160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1A1A1A"/>
                </a:solidFill>
                <a:latin typeface="DejaVu Sans"/>
              </a:rPr>
              <a:t>review.js: chỉnh box + brush</a:t>
            </a:r>
          </a:p>
        </p:txBody>
      </p:sp>
      <p:sp>
        <p:nvSpPr>
          <p:cNvPr id="10" name="Oval 9"/>
          <p:cNvSpPr/>
          <p:nvPr/>
        </p:nvSpPr>
        <p:spPr>
          <a:xfrm>
            <a:off x="960119" y="4498848"/>
            <a:ext cx="182880" cy="182880"/>
          </a:xfrm>
          <a:prstGeom prst="ellipse">
            <a:avLst/>
          </a:prstGeom>
          <a:solidFill>
            <a:srgbClr val="5A6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98448" y="4389120"/>
            <a:ext cx="4160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1A1A1A"/>
                </a:solidFill>
                <a:latin typeface="DejaVu Sans"/>
              </a:rPr>
              <a:t>editor.js: dịch + font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463040"/>
            <a:ext cx="5120640" cy="4023360"/>
          </a:xfrm>
          <a:prstGeom prst="rect">
            <a:avLst/>
          </a:prstGeom>
          <a:solidFill>
            <a:srgbClr val="FFFFFF"/>
          </a:solidFill>
          <a:ln>
            <a:solidFill>
              <a:srgbClr val="D0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463040"/>
            <a:ext cx="5120640" cy="73152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554480"/>
            <a:ext cx="45720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DejaVu Sans"/>
              </a:rPr>
              <a:t>Công nghệ &amp; bootstrap</a:t>
            </a:r>
          </a:p>
        </p:txBody>
      </p:sp>
      <p:sp>
        <p:nvSpPr>
          <p:cNvPr id="15" name="Oval 14"/>
          <p:cNvSpPr/>
          <p:nvPr/>
        </p:nvSpPr>
        <p:spPr>
          <a:xfrm>
            <a:off x="6629400" y="2578608"/>
            <a:ext cx="182880" cy="182880"/>
          </a:xfrm>
          <a:prstGeom prst="ellipse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67728" y="2468880"/>
            <a:ext cx="4160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1A1A1A"/>
                </a:solidFill>
                <a:latin typeface="DejaVu Sans"/>
              </a:rPr>
              <a:t>Vanilla JS, không framework</a:t>
            </a:r>
          </a:p>
        </p:txBody>
      </p:sp>
      <p:sp>
        <p:nvSpPr>
          <p:cNvPr id="17" name="Oval 16"/>
          <p:cNvSpPr/>
          <p:nvPr/>
        </p:nvSpPr>
        <p:spPr>
          <a:xfrm>
            <a:off x="6629400" y="3538728"/>
            <a:ext cx="182880" cy="182880"/>
          </a:xfrm>
          <a:prstGeom prst="ellipse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67728" y="3429000"/>
            <a:ext cx="4160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1A1A1A"/>
                </a:solidFill>
                <a:latin typeface="DejaVu Sans"/>
              </a:rPr>
              <a:t>api.js: bọc mọi /api/*</a:t>
            </a:r>
          </a:p>
        </p:txBody>
      </p:sp>
      <p:sp>
        <p:nvSpPr>
          <p:cNvPr id="19" name="Oval 18"/>
          <p:cNvSpPr/>
          <p:nvPr/>
        </p:nvSpPr>
        <p:spPr>
          <a:xfrm>
            <a:off x="6629400" y="4498848"/>
            <a:ext cx="182880" cy="182880"/>
          </a:xfrm>
          <a:prstGeom prst="ellipse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67728" y="4389120"/>
            <a:ext cx="4160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1A1A1A"/>
                </a:solidFill>
                <a:latin typeface="DejaVu Sans"/>
              </a:rPr>
              <a:t>main.js: job poll 700ms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126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95959"/>
                </a:solidFill>
                <a:latin typeface="DejaVu Sans"/>
              </a:rPr>
              <a:t>Nguồn: app/static/js (22 file), app/templates/index.html</a:t>
            </a:r>
          </a:p>
        </p:txBody>
      </p:sp>
    </p:spTree>
  </p:cSld>
  <p:transition>
    <p:fade spd="med"/>
  </p:transition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1A1A"/>
                </a:solidFill>
                <a:latin typeface="DejaVu Sans"/>
              </a:rPr>
              <a:t>Lớp 2 — API: app/routers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63040"/>
            <a:ext cx="5120640" cy="4023360"/>
          </a:xfrm>
          <a:prstGeom prst="rect">
            <a:avLst/>
          </a:prstGeom>
          <a:solidFill>
            <a:srgbClr val="F2F5FA"/>
          </a:solidFill>
          <a:ln>
            <a:solidFill>
              <a:srgbClr val="D0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463040"/>
            <a:ext cx="5120640" cy="731520"/>
          </a:xfrm>
          <a:prstGeom prst="rect">
            <a:avLst/>
          </a:prstGeom>
          <a:solidFill>
            <a:srgbClr val="5A6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45720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DejaVu Sans"/>
              </a:rPr>
              <a:t>14 router (14 file)</a:t>
            </a:r>
          </a:p>
        </p:txBody>
      </p:sp>
      <p:sp>
        <p:nvSpPr>
          <p:cNvPr id="6" name="Oval 5"/>
          <p:cNvSpPr/>
          <p:nvPr/>
        </p:nvSpPr>
        <p:spPr>
          <a:xfrm>
            <a:off x="960119" y="2578608"/>
            <a:ext cx="182880" cy="182880"/>
          </a:xfrm>
          <a:prstGeom prst="ellipse">
            <a:avLst/>
          </a:prstGeom>
          <a:solidFill>
            <a:srgbClr val="5A6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98448" y="2468880"/>
            <a:ext cx="4160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1A1A1A"/>
                </a:solidFill>
                <a:latin typeface="DejaVu Sans"/>
              </a:rPr>
              <a:t>chapters.py: tạo chương + job</a:t>
            </a:r>
          </a:p>
        </p:txBody>
      </p:sp>
      <p:sp>
        <p:nvSpPr>
          <p:cNvPr id="8" name="Oval 7"/>
          <p:cNvSpPr/>
          <p:nvPr/>
        </p:nvSpPr>
        <p:spPr>
          <a:xfrm>
            <a:off x="960119" y="3538728"/>
            <a:ext cx="182880" cy="182880"/>
          </a:xfrm>
          <a:prstGeom prst="ellipse">
            <a:avLst/>
          </a:prstGeom>
          <a:solidFill>
            <a:srgbClr val="5A6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98448" y="3429000"/>
            <a:ext cx="4160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1A1A1A"/>
                </a:solidFill>
                <a:latin typeface="DejaVu Sans"/>
              </a:rPr>
              <a:t>ocr.py · translation.py: OCR/dịch</a:t>
            </a:r>
          </a:p>
        </p:txBody>
      </p:sp>
      <p:sp>
        <p:nvSpPr>
          <p:cNvPr id="10" name="Oval 9"/>
          <p:cNvSpPr/>
          <p:nvPr/>
        </p:nvSpPr>
        <p:spPr>
          <a:xfrm>
            <a:off x="960119" y="4498848"/>
            <a:ext cx="182880" cy="182880"/>
          </a:xfrm>
          <a:prstGeom prst="ellipse">
            <a:avLst/>
          </a:prstGeom>
          <a:solidFill>
            <a:srgbClr val="5A6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98448" y="4389120"/>
            <a:ext cx="4160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1A1A1A"/>
                </a:solidFill>
                <a:latin typeface="DejaVu Sans"/>
              </a:rPr>
              <a:t>export.py: preflight + ZIP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463040"/>
            <a:ext cx="5120640" cy="4023360"/>
          </a:xfrm>
          <a:prstGeom prst="rect">
            <a:avLst/>
          </a:prstGeom>
          <a:solidFill>
            <a:srgbClr val="FFFFFF"/>
          </a:solidFill>
          <a:ln>
            <a:solidFill>
              <a:srgbClr val="D0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463040"/>
            <a:ext cx="5120640" cy="73152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554480"/>
            <a:ext cx="45720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DejaVu Sans"/>
              </a:rPr>
              <a:t>Hàng rào an toàn</a:t>
            </a:r>
          </a:p>
        </p:txBody>
      </p:sp>
      <p:sp>
        <p:nvSpPr>
          <p:cNvPr id="15" name="Oval 14"/>
          <p:cNvSpPr/>
          <p:nvPr/>
        </p:nvSpPr>
        <p:spPr>
          <a:xfrm>
            <a:off x="6629400" y="2578608"/>
            <a:ext cx="182880" cy="182880"/>
          </a:xfrm>
          <a:prstGeom prst="ellipse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67728" y="2468880"/>
            <a:ext cx="4160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1A1A1A"/>
                </a:solidFill>
                <a:latin typeface="DejaVu Sans"/>
              </a:rPr>
              <a:t>security.py: validate_chapter_id</a:t>
            </a:r>
          </a:p>
        </p:txBody>
      </p:sp>
      <p:sp>
        <p:nvSpPr>
          <p:cNvPr id="17" name="Oval 16"/>
          <p:cNvSpPr/>
          <p:nvPr/>
        </p:nvSpPr>
        <p:spPr>
          <a:xfrm>
            <a:off x="6629400" y="3538728"/>
            <a:ext cx="182880" cy="182880"/>
          </a:xfrm>
          <a:prstGeom prst="ellipse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67728" y="3429000"/>
            <a:ext cx="4160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1A1A1A"/>
                </a:solidFill>
                <a:latin typeface="DejaVu Sans"/>
              </a:rPr>
              <a:t>MAX_UPLOAD: ≤500MB</a:t>
            </a:r>
          </a:p>
        </p:txBody>
      </p:sp>
      <p:sp>
        <p:nvSpPr>
          <p:cNvPr id="19" name="Oval 18"/>
          <p:cNvSpPr/>
          <p:nvPr/>
        </p:nvSpPr>
        <p:spPr>
          <a:xfrm>
            <a:off x="6629400" y="4498848"/>
            <a:ext cx="182880" cy="182880"/>
          </a:xfrm>
          <a:prstGeom prst="ellipse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67728" y="4389120"/>
            <a:ext cx="4160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1A1A1A"/>
                </a:solidFill>
                <a:latin typeface="DejaVu Sans"/>
              </a:rPr>
              <a:t>render_commit: snapshot atomic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126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95959"/>
                </a:solidFill>
                <a:latin typeface="DejaVu Sans"/>
              </a:rPr>
              <a:t>Nguồn: app/routers, app/security.py</a:t>
            </a:r>
          </a:p>
        </p:txBody>
      </p:sp>
    </p:spTree>
  </p:cSld>
  <p:transition>
    <p:fade spd="med"/>
  </p:transition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1A1A"/>
                </a:solidFill>
                <a:latin typeface="DejaVu Sans"/>
              </a:rPr>
              <a:t>Lớp 3 — Core: pipeline + dependencies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63040"/>
            <a:ext cx="5120640" cy="4023360"/>
          </a:xfrm>
          <a:prstGeom prst="rect">
            <a:avLst/>
          </a:prstGeom>
          <a:solidFill>
            <a:srgbClr val="F2F5FA"/>
          </a:solidFill>
          <a:ln>
            <a:solidFill>
              <a:srgbClr val="D0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463040"/>
            <a:ext cx="5120640" cy="731520"/>
          </a:xfrm>
          <a:prstGeom prst="rect">
            <a:avLst/>
          </a:prstGeom>
          <a:solidFill>
            <a:srgbClr val="5A6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45720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DejaVu Sans"/>
              </a:rPr>
              <a:t>Orchestrator (pipeline.py)</a:t>
            </a:r>
          </a:p>
        </p:txBody>
      </p:sp>
      <p:sp>
        <p:nvSpPr>
          <p:cNvPr id="6" name="Oval 5"/>
          <p:cNvSpPr/>
          <p:nvPr/>
        </p:nvSpPr>
        <p:spPr>
          <a:xfrm>
            <a:off x="960119" y="2578608"/>
            <a:ext cx="182880" cy="182880"/>
          </a:xfrm>
          <a:prstGeom prst="ellipse">
            <a:avLst/>
          </a:prstGeom>
          <a:solidFill>
            <a:srgbClr val="5A6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98448" y="2468880"/>
            <a:ext cx="4160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1A1A1A"/>
                </a:solidFill>
                <a:latin typeface="DejaVu Sans"/>
              </a:rPr>
              <a:t>download_chapter(): tải + slice</a:t>
            </a:r>
          </a:p>
        </p:txBody>
      </p:sp>
      <p:sp>
        <p:nvSpPr>
          <p:cNvPr id="8" name="Oval 7"/>
          <p:cNvSpPr/>
          <p:nvPr/>
        </p:nvSpPr>
        <p:spPr>
          <a:xfrm>
            <a:off x="960119" y="3538728"/>
            <a:ext cx="182880" cy="182880"/>
          </a:xfrm>
          <a:prstGeom prst="ellipse">
            <a:avLst/>
          </a:prstGeom>
          <a:solidFill>
            <a:srgbClr val="5A6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98448" y="3429000"/>
            <a:ext cx="4160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1A1A1A"/>
                </a:solidFill>
                <a:latin typeface="DejaVu Sans"/>
              </a:rPr>
              <a:t>process_pages(): luồng ×thread</a:t>
            </a:r>
          </a:p>
        </p:txBody>
      </p:sp>
      <p:sp>
        <p:nvSpPr>
          <p:cNvPr id="10" name="Oval 9"/>
          <p:cNvSpPr/>
          <p:nvPr/>
        </p:nvSpPr>
        <p:spPr>
          <a:xfrm>
            <a:off x="960119" y="4498848"/>
            <a:ext cx="182880" cy="182880"/>
          </a:xfrm>
          <a:prstGeom prst="ellipse">
            <a:avLst/>
          </a:prstGeom>
          <a:solidFill>
            <a:srgbClr val="5A6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98448" y="4389120"/>
            <a:ext cx="4160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1A1A1A"/>
                </a:solidFill>
                <a:latin typeface="DejaVu Sans"/>
              </a:rPr>
              <a:t>pipeline_editing: sửa box, mask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463040"/>
            <a:ext cx="5120640" cy="4023360"/>
          </a:xfrm>
          <a:prstGeom prst="rect">
            <a:avLst/>
          </a:prstGeom>
          <a:solidFill>
            <a:srgbClr val="FFFFFF"/>
          </a:solidFill>
          <a:ln>
            <a:solidFill>
              <a:srgbClr val="D0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463040"/>
            <a:ext cx="5120640" cy="73152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554480"/>
            <a:ext cx="45720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DejaVu Sans"/>
              </a:rPr>
              <a:t>Sân chơi an toàn</a:t>
            </a:r>
          </a:p>
        </p:txBody>
      </p:sp>
      <p:sp>
        <p:nvSpPr>
          <p:cNvPr id="15" name="Oval 14"/>
          <p:cNvSpPr/>
          <p:nvPr/>
        </p:nvSpPr>
        <p:spPr>
          <a:xfrm>
            <a:off x="6629400" y="2578608"/>
            <a:ext cx="182880" cy="182880"/>
          </a:xfrm>
          <a:prstGeom prst="ellipse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67728" y="2468880"/>
            <a:ext cx="4160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1A1A1A"/>
                </a:solidFill>
                <a:latin typeface="DejaVu Sans"/>
              </a:rPr>
              <a:t>dependencies.py: singleton</a:t>
            </a:r>
          </a:p>
        </p:txBody>
      </p:sp>
      <p:sp>
        <p:nvSpPr>
          <p:cNvPr id="17" name="Oval 16"/>
          <p:cNvSpPr/>
          <p:nvPr/>
        </p:nvSpPr>
        <p:spPr>
          <a:xfrm>
            <a:off x="6629400" y="3538728"/>
            <a:ext cx="182880" cy="182880"/>
          </a:xfrm>
          <a:prstGeom prst="ellipse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67728" y="3429000"/>
            <a:ext cx="4160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1A1A1A"/>
                </a:solidFill>
                <a:latin typeface="DejaVu Sans"/>
              </a:rPr>
              <a:t>manifest_utils: file lock + atomic</a:t>
            </a:r>
          </a:p>
        </p:txBody>
      </p:sp>
      <p:sp>
        <p:nvSpPr>
          <p:cNvPr id="19" name="Oval 18"/>
          <p:cNvSpPr/>
          <p:nvPr/>
        </p:nvSpPr>
        <p:spPr>
          <a:xfrm>
            <a:off x="6629400" y="4498848"/>
            <a:ext cx="182880" cy="182880"/>
          </a:xfrm>
          <a:prstGeom prst="ellipse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67728" y="4389120"/>
            <a:ext cx="4160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1A1A1A"/>
                </a:solidFill>
                <a:latin typeface="DejaVu Sans"/>
              </a:rPr>
              <a:t>security.py: chặn SSRF/traversal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126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95959"/>
                </a:solidFill>
                <a:latin typeface="DejaVu Sans"/>
              </a:rPr>
              <a:t>Nguồn: app/pipeline.py, app/dependencies.py</a:t>
            </a:r>
          </a:p>
        </p:txBody>
      </p:sp>
    </p:spTree>
  </p:cSld>
  <p:transition>
    <p:fade spd="med"/>
  </p:transition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1A1A"/>
                </a:solidFill>
                <a:latin typeface="DejaVu Sans"/>
              </a:rPr>
              <a:t>Lớp 4 — AI: detector + inpaint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63040"/>
            <a:ext cx="5120640" cy="4023360"/>
          </a:xfrm>
          <a:prstGeom prst="rect">
            <a:avLst/>
          </a:prstGeom>
          <a:solidFill>
            <a:srgbClr val="F2F5FA"/>
          </a:solidFill>
          <a:ln>
            <a:solidFill>
              <a:srgbClr val="D0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463040"/>
            <a:ext cx="5120640" cy="731520"/>
          </a:xfrm>
          <a:prstGeom prst="rect">
            <a:avLst/>
          </a:prstGeom>
          <a:solidFill>
            <a:srgbClr val="5A6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45720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DejaVu Sans"/>
              </a:rPr>
              <a:t>Phát hiện &amp; xóa chữ</a:t>
            </a:r>
          </a:p>
        </p:txBody>
      </p:sp>
      <p:sp>
        <p:nvSpPr>
          <p:cNvPr id="6" name="Oval 5"/>
          <p:cNvSpPr/>
          <p:nvPr/>
        </p:nvSpPr>
        <p:spPr>
          <a:xfrm>
            <a:off x="960119" y="2578608"/>
            <a:ext cx="182880" cy="182880"/>
          </a:xfrm>
          <a:prstGeom prst="ellipse">
            <a:avLst/>
          </a:prstGeom>
          <a:solidFill>
            <a:srgbClr val="5A6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98448" y="2468880"/>
            <a:ext cx="4160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1A1A1A"/>
                </a:solidFill>
                <a:latin typeface="DejaVu Sans"/>
              </a:rPr>
              <a:t>KiuyhaTextDetector (ONNX, 1280px)</a:t>
            </a:r>
          </a:p>
        </p:txBody>
      </p:sp>
      <p:sp>
        <p:nvSpPr>
          <p:cNvPr id="8" name="Oval 7"/>
          <p:cNvSpPr/>
          <p:nvPr/>
        </p:nvSpPr>
        <p:spPr>
          <a:xfrm>
            <a:off x="960119" y="3538728"/>
            <a:ext cx="182880" cy="182880"/>
          </a:xfrm>
          <a:prstGeom prst="ellipse">
            <a:avLst/>
          </a:prstGeom>
          <a:solidFill>
            <a:srgbClr val="5A6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98448" y="3429000"/>
            <a:ext cx="4160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1A1A1A"/>
                </a:solidFill>
                <a:latin typeface="DejaVu Sans"/>
              </a:rPr>
              <a:t>boxes.py: BubbleBox + NMS cuối</a:t>
            </a:r>
          </a:p>
        </p:txBody>
      </p:sp>
      <p:sp>
        <p:nvSpPr>
          <p:cNvPr id="10" name="Oval 9"/>
          <p:cNvSpPr/>
          <p:nvPr/>
        </p:nvSpPr>
        <p:spPr>
          <a:xfrm>
            <a:off x="960119" y="4498848"/>
            <a:ext cx="182880" cy="182880"/>
          </a:xfrm>
          <a:prstGeom prst="ellipse">
            <a:avLst/>
          </a:prstGeom>
          <a:solidFill>
            <a:srgbClr val="5A6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98448" y="4389120"/>
            <a:ext cx="4160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1A1A1A"/>
                </a:solidFill>
                <a:latin typeface="DejaVu Sans"/>
              </a:rPr>
              <a:t>mask_builder: mask học + fallback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463040"/>
            <a:ext cx="5120640" cy="4023360"/>
          </a:xfrm>
          <a:prstGeom prst="rect">
            <a:avLst/>
          </a:prstGeom>
          <a:solidFill>
            <a:srgbClr val="FFFFFF"/>
          </a:solidFill>
          <a:ln>
            <a:solidFill>
              <a:srgbClr val="D0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463040"/>
            <a:ext cx="5120640" cy="73152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554480"/>
            <a:ext cx="45720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DejaVu Sans"/>
              </a:rPr>
              <a:t>LaMa inpaint (CPU)</a:t>
            </a:r>
          </a:p>
        </p:txBody>
      </p:sp>
      <p:sp>
        <p:nvSpPr>
          <p:cNvPr id="15" name="Oval 14"/>
          <p:cNvSpPr/>
          <p:nvPr/>
        </p:nvSpPr>
        <p:spPr>
          <a:xfrm>
            <a:off x="6629400" y="2578608"/>
            <a:ext cx="182880" cy="182880"/>
          </a:xfrm>
          <a:prstGeom prst="ellipse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67728" y="2468880"/>
            <a:ext cx="4160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1A1A1A"/>
                </a:solidFill>
                <a:latin typeface="DejaVu Sans"/>
              </a:rPr>
              <a:t>lama_inpainter: crop + tiled 512²</a:t>
            </a:r>
          </a:p>
        </p:txBody>
      </p:sp>
      <p:sp>
        <p:nvSpPr>
          <p:cNvPr id="17" name="Oval 16"/>
          <p:cNvSpPr/>
          <p:nvPr/>
        </p:nvSpPr>
        <p:spPr>
          <a:xfrm>
            <a:off x="6629400" y="3538728"/>
            <a:ext cx="182880" cy="182880"/>
          </a:xfrm>
          <a:prstGeom prst="ellipse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67728" y="3429000"/>
            <a:ext cx="4160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1A1A1A"/>
                </a:solidFill>
                <a:latin typeface="DejaVu Sans"/>
              </a:rPr>
              <a:t>crop đơn sắc: tô màu median</a:t>
            </a:r>
          </a:p>
        </p:txBody>
      </p:sp>
      <p:sp>
        <p:nvSpPr>
          <p:cNvPr id="19" name="Oval 18"/>
          <p:cNvSpPr/>
          <p:nvPr/>
        </p:nvSpPr>
        <p:spPr>
          <a:xfrm>
            <a:off x="6629400" y="4498848"/>
            <a:ext cx="182880" cy="182880"/>
          </a:xfrm>
          <a:prstGeom prst="ellipse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67728" y="4389120"/>
            <a:ext cx="4160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1A1A1A"/>
                </a:solidFill>
                <a:latin typeface="DejaVu Sans"/>
              </a:rPr>
              <a:t>chạy song song với OCR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126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95959"/>
                </a:solidFill>
                <a:latin typeface="DejaVu Sans"/>
              </a:rPr>
              <a:t>Nguồn: app/detector, app/inpaint</a:t>
            </a:r>
          </a:p>
        </p:txBody>
      </p:sp>
    </p:spTree>
  </p:cSld>
  <p:transition>
    <p:fade spd="med"/>
  </p:transition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1A1A"/>
                </a:solidFill>
                <a:latin typeface="DejaVu Sans"/>
              </a:rPr>
              <a:t>Lớp 5 — OCR · Downloader · Render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63040"/>
            <a:ext cx="5120640" cy="4023360"/>
          </a:xfrm>
          <a:prstGeom prst="rect">
            <a:avLst/>
          </a:prstGeom>
          <a:solidFill>
            <a:srgbClr val="F2F5FA"/>
          </a:solidFill>
          <a:ln>
            <a:solidFill>
              <a:srgbClr val="D0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463040"/>
            <a:ext cx="5120640" cy="731520"/>
          </a:xfrm>
          <a:prstGeom prst="rect">
            <a:avLst/>
          </a:prstGeom>
          <a:solidFill>
            <a:srgbClr val="5A6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45720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DejaVu Sans"/>
              </a:rPr>
              <a:t>OCR + tải + chèn chữ</a:t>
            </a:r>
          </a:p>
        </p:txBody>
      </p:sp>
      <p:sp>
        <p:nvSpPr>
          <p:cNvPr id="6" name="Oval 5"/>
          <p:cNvSpPr/>
          <p:nvPr/>
        </p:nvSpPr>
        <p:spPr>
          <a:xfrm>
            <a:off x="960119" y="2578608"/>
            <a:ext cx="182880" cy="182880"/>
          </a:xfrm>
          <a:prstGeom prst="ellipse">
            <a:avLst/>
          </a:prstGeom>
          <a:solidFill>
            <a:srgbClr val="5A6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98448" y="2468880"/>
            <a:ext cx="4160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1A1A1A"/>
                </a:solidFill>
                <a:latin typeface="DejaVu Sans"/>
              </a:rPr>
              <a:t>MultiLangOCR: ja/en/zh/ko</a:t>
            </a:r>
          </a:p>
        </p:txBody>
      </p:sp>
      <p:sp>
        <p:nvSpPr>
          <p:cNvPr id="8" name="Oval 7"/>
          <p:cNvSpPr/>
          <p:nvPr/>
        </p:nvSpPr>
        <p:spPr>
          <a:xfrm>
            <a:off x="960119" y="3538728"/>
            <a:ext cx="182880" cy="182880"/>
          </a:xfrm>
          <a:prstGeom prst="ellipse">
            <a:avLst/>
          </a:prstGeom>
          <a:solidFill>
            <a:srgbClr val="5A6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98448" y="3429000"/>
            <a:ext cx="4160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1A1A1A"/>
                </a:solidFill>
                <a:latin typeface="DejaVu Sans"/>
              </a:rPr>
              <a:t>registry: static → Playwright dự phòng</a:t>
            </a:r>
          </a:p>
        </p:txBody>
      </p:sp>
      <p:sp>
        <p:nvSpPr>
          <p:cNvPr id="10" name="Oval 9"/>
          <p:cNvSpPr/>
          <p:nvPr/>
        </p:nvSpPr>
        <p:spPr>
          <a:xfrm>
            <a:off x="960119" y="4498848"/>
            <a:ext cx="182880" cy="182880"/>
          </a:xfrm>
          <a:prstGeom prst="ellipse">
            <a:avLst/>
          </a:prstGeom>
          <a:solidFill>
            <a:srgbClr val="5A6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98448" y="4389120"/>
            <a:ext cx="4160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1A1A1A"/>
                </a:solidFill>
                <a:latin typeface="DejaVu Sans"/>
              </a:rPr>
              <a:t>text_renderer: font 6–48px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463040"/>
            <a:ext cx="5120640" cy="4023360"/>
          </a:xfrm>
          <a:prstGeom prst="rect">
            <a:avLst/>
          </a:prstGeom>
          <a:solidFill>
            <a:srgbClr val="FFFFFF"/>
          </a:solidFill>
          <a:ln>
            <a:solidFill>
              <a:srgbClr val="D0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463040"/>
            <a:ext cx="5120640" cy="73152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554480"/>
            <a:ext cx="45720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DejaVu Sans"/>
              </a:rPr>
              <a:t>Và tuỳ chọn</a:t>
            </a:r>
          </a:p>
        </p:txBody>
      </p:sp>
      <p:sp>
        <p:nvSpPr>
          <p:cNvPr id="15" name="Oval 14"/>
          <p:cNvSpPr/>
          <p:nvPr/>
        </p:nvSpPr>
        <p:spPr>
          <a:xfrm>
            <a:off x="6629400" y="2578608"/>
            <a:ext cx="182880" cy="182880"/>
          </a:xfrm>
          <a:prstGeom prst="ellipse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67728" y="2468880"/>
            <a:ext cx="4160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1A1A1A"/>
                </a:solidFill>
                <a:latin typeface="DejaVu Sans"/>
              </a:rPr>
              <a:t>PaddleV6OCR: tier small/medium</a:t>
            </a:r>
          </a:p>
        </p:txBody>
      </p:sp>
      <p:sp>
        <p:nvSpPr>
          <p:cNvPr id="17" name="Oval 16"/>
          <p:cNvSpPr/>
          <p:nvPr/>
        </p:nvSpPr>
        <p:spPr>
          <a:xfrm>
            <a:off x="6629400" y="3538728"/>
            <a:ext cx="182880" cy="182880"/>
          </a:xfrm>
          <a:prstGeom prst="ellipse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67728" y="3429000"/>
            <a:ext cx="4160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1A1A1A"/>
                </a:solidFill>
                <a:latin typeface="DejaVu Sans"/>
              </a:rPr>
              <a:t>slicer: cắt webtoon dài</a:t>
            </a:r>
          </a:p>
        </p:txBody>
      </p:sp>
      <p:sp>
        <p:nvSpPr>
          <p:cNvPr id="19" name="Oval 18"/>
          <p:cNvSpPr/>
          <p:nvPr/>
        </p:nvSpPr>
        <p:spPr>
          <a:xfrm>
            <a:off x="6629400" y="4498848"/>
            <a:ext cx="182880" cy="182880"/>
          </a:xfrm>
          <a:prstGeom prst="ellipse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67728" y="4389120"/>
            <a:ext cx="4160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1A1A1A"/>
                </a:solidFill>
                <a:latin typeface="DejaVu Sans"/>
              </a:rPr>
              <a:t>OCR commit dưới manifest lock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126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95959"/>
                </a:solidFill>
                <a:latin typeface="DejaVu Sans"/>
              </a:rPr>
              <a:t>Nguồn: app/ocr, app/downloader, app/render</a:t>
            </a:r>
          </a:p>
        </p:txBody>
      </p:sp>
    </p:spTree>
  </p:cSld>
  <p:transition>
    <p:fade spd="med"/>
  </p:transition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1A1A"/>
                </a:solidFill>
                <a:latin typeface="DejaVu Sans"/>
              </a:rPr>
              <a:t>Luồng: từ tải về đến xuất file</a:t>
            </a:r>
          </a:p>
        </p:txBody>
      </p:sp>
      <p:sp>
        <p:nvSpPr>
          <p:cNvPr id="3" name="Oval 2"/>
          <p:cNvSpPr/>
          <p:nvPr/>
        </p:nvSpPr>
        <p:spPr>
          <a:xfrm>
            <a:off x="1003706" y="2011680"/>
            <a:ext cx="1090879" cy="1090879"/>
          </a:xfrm>
          <a:prstGeom prst="ellipse">
            <a:avLst/>
          </a:prstGeom>
          <a:solidFill>
            <a:srgbClr val="0B5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3706" y="2011680"/>
            <a:ext cx="1090879" cy="109087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DejaVu Sans"/>
              </a:rPr>
              <a:t>1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094585" y="2560320"/>
            <a:ext cx="727253" cy="0"/>
          </a:xfrm>
          <a:prstGeom prst="line">
            <a:avLst/>
          </a:prstGeom>
          <a:ln w="25400">
            <a:solidFill>
              <a:srgbClr val="D0D9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11885" y="3566160"/>
            <a:ext cx="21488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0">
                <a:solidFill>
                  <a:srgbClr val="1A1A1A"/>
                </a:solidFill>
                <a:latin typeface="DejaVu Sans"/>
              </a:rPr>
              <a:t>POST /api/chapter · validate URL (SSRF)</a:t>
            </a:r>
          </a:p>
        </p:txBody>
      </p:sp>
      <p:sp>
        <p:nvSpPr>
          <p:cNvPr id="7" name="Oval 6"/>
          <p:cNvSpPr/>
          <p:nvPr/>
        </p:nvSpPr>
        <p:spPr>
          <a:xfrm>
            <a:off x="2821838" y="2011680"/>
            <a:ext cx="1090879" cy="1090879"/>
          </a:xfrm>
          <a:prstGeom prst="ellipse">
            <a:avLst/>
          </a:prstGeom>
          <a:solidFill>
            <a:srgbClr val="0B5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21838" y="2011680"/>
            <a:ext cx="1090879" cy="109087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DejaVu Sans"/>
              </a:rPr>
              <a:t>2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912717" y="2560320"/>
            <a:ext cx="727253" cy="0"/>
          </a:xfrm>
          <a:prstGeom prst="line">
            <a:avLst/>
          </a:prstGeom>
          <a:ln w="25400">
            <a:solidFill>
              <a:srgbClr val="D0D9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430018" y="3566160"/>
            <a:ext cx="21488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0">
                <a:solidFill>
                  <a:srgbClr val="1A1A1A"/>
                </a:solidFill>
                <a:latin typeface="DejaVu Sans"/>
              </a:rPr>
              <a:t>registry: static → Playwright</a:t>
            </a:r>
          </a:p>
        </p:txBody>
      </p:sp>
      <p:sp>
        <p:nvSpPr>
          <p:cNvPr id="11" name="Oval 10"/>
          <p:cNvSpPr/>
          <p:nvPr/>
        </p:nvSpPr>
        <p:spPr>
          <a:xfrm>
            <a:off x="4639970" y="2011680"/>
            <a:ext cx="1090879" cy="1090879"/>
          </a:xfrm>
          <a:prstGeom prst="ellipse">
            <a:avLst/>
          </a:prstGeom>
          <a:solidFill>
            <a:srgbClr val="0B5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9970" y="2011680"/>
            <a:ext cx="1090879" cy="109087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DejaVu Sans"/>
              </a:rPr>
              <a:t>3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730849" y="2560320"/>
            <a:ext cx="727253" cy="0"/>
          </a:xfrm>
          <a:prstGeom prst="line">
            <a:avLst/>
          </a:prstGeom>
          <a:ln w="25400">
            <a:solidFill>
              <a:srgbClr val="D0D9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248150" y="3566160"/>
            <a:ext cx="21488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0">
                <a:solidFill>
                  <a:srgbClr val="1A1A1A"/>
                </a:solidFill>
                <a:latin typeface="DejaVu Sans"/>
              </a:rPr>
              <a:t>slicer → raw/{id}/sliced/</a:t>
            </a:r>
          </a:p>
        </p:txBody>
      </p:sp>
      <p:sp>
        <p:nvSpPr>
          <p:cNvPr id="15" name="Oval 14"/>
          <p:cNvSpPr/>
          <p:nvPr/>
        </p:nvSpPr>
        <p:spPr>
          <a:xfrm>
            <a:off x="6458102" y="2011680"/>
            <a:ext cx="1090879" cy="1090879"/>
          </a:xfrm>
          <a:prstGeom prst="ellipse">
            <a:avLst/>
          </a:prstGeom>
          <a:solidFill>
            <a:srgbClr val="0B5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58102" y="2011680"/>
            <a:ext cx="1090879" cy="109087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DejaVu Sans"/>
              </a:rPr>
              <a:t>4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548981" y="2560320"/>
            <a:ext cx="727253" cy="0"/>
          </a:xfrm>
          <a:prstGeom prst="line">
            <a:avLst/>
          </a:prstGeom>
          <a:ln w="25400">
            <a:solidFill>
              <a:srgbClr val="D0D9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066282" y="3566160"/>
            <a:ext cx="21488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0">
                <a:solidFill>
                  <a:srgbClr val="1A1A1A"/>
                </a:solidFill>
                <a:latin typeface="DejaVu Sans"/>
              </a:rPr>
              <a:t>detector + LaMa → clean_*.png</a:t>
            </a:r>
          </a:p>
        </p:txBody>
      </p:sp>
      <p:sp>
        <p:nvSpPr>
          <p:cNvPr id="19" name="Oval 18"/>
          <p:cNvSpPr/>
          <p:nvPr/>
        </p:nvSpPr>
        <p:spPr>
          <a:xfrm>
            <a:off x="8276234" y="2011680"/>
            <a:ext cx="1090879" cy="1090879"/>
          </a:xfrm>
          <a:prstGeom prst="ellipse">
            <a:avLst/>
          </a:prstGeom>
          <a:solidFill>
            <a:srgbClr val="0B5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6234" y="2011680"/>
            <a:ext cx="1090879" cy="109087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DejaVu Sans"/>
              </a:rPr>
              <a:t>5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367113" y="2560320"/>
            <a:ext cx="727253" cy="0"/>
          </a:xfrm>
          <a:prstGeom prst="line">
            <a:avLst/>
          </a:prstGeom>
          <a:ln w="25400">
            <a:solidFill>
              <a:srgbClr val="D0D9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884413" y="3566160"/>
            <a:ext cx="21488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0">
                <a:solidFill>
                  <a:srgbClr val="1A1A1A"/>
                </a:solidFill>
                <a:latin typeface="DejaVu Sans"/>
              </a:rPr>
              <a:t>OCR + render → data/output</a:t>
            </a:r>
          </a:p>
        </p:txBody>
      </p:sp>
      <p:sp>
        <p:nvSpPr>
          <p:cNvPr id="23" name="Oval 22"/>
          <p:cNvSpPr/>
          <p:nvPr/>
        </p:nvSpPr>
        <p:spPr>
          <a:xfrm>
            <a:off x="10094366" y="2011680"/>
            <a:ext cx="1090879" cy="1090879"/>
          </a:xfrm>
          <a:prstGeom prst="ellipse">
            <a:avLst/>
          </a:prstGeom>
          <a:solidFill>
            <a:srgbClr val="0B5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94366" y="2011680"/>
            <a:ext cx="1090879" cy="109087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DejaVu Sans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02545" y="3566160"/>
            <a:ext cx="21488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0">
                <a:solidFill>
                  <a:srgbClr val="1A1A1A"/>
                </a:solidFill>
                <a:latin typeface="DejaVu Sans"/>
              </a:rPr>
              <a:t>preflight → chapter_{id}.zip</a:t>
            </a:r>
          </a:p>
        </p:txBody>
      </p:sp>
    </p:spTree>
  </p:cSld>
  <p:transition>
    <p:fade spd="med"/>
  </p:transition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1A1A"/>
                </a:solidFill>
                <a:latin typeface="DejaVu Sans"/>
              </a:rPr>
              <a:t>Mỗi bước: đầu vào / đầu ra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554480"/>
            <a:ext cx="5362956" cy="64008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5362956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DejaVu Sans"/>
              </a:rPr>
              <a:t>Bước</a:t>
            </a:r>
          </a:p>
        </p:txBody>
      </p:sp>
      <p:sp>
        <p:nvSpPr>
          <p:cNvPr id="5" name="Rectangle 4"/>
          <p:cNvSpPr/>
          <p:nvPr/>
        </p:nvSpPr>
        <p:spPr>
          <a:xfrm>
            <a:off x="6185916" y="1554480"/>
            <a:ext cx="5362956" cy="64008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85916" y="1554480"/>
            <a:ext cx="5362956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DejaVu Sans"/>
              </a:rPr>
              <a:t>Đầu vào → Đầu ra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331720"/>
            <a:ext cx="5362956" cy="640080"/>
          </a:xfrm>
          <a:prstGeom prst="rect">
            <a:avLst/>
          </a:prstGeom>
          <a:solidFill>
            <a:srgbClr val="F2F5FA"/>
          </a:solidFill>
          <a:ln>
            <a:solidFill>
              <a:srgbClr val="D0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19" y="2331720"/>
            <a:ext cx="5180076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1A1A1A"/>
                </a:solidFill>
                <a:latin typeface="DejaVu Sans"/>
              </a:rPr>
              <a:t>1. Validate</a:t>
            </a:r>
          </a:p>
        </p:txBody>
      </p:sp>
      <p:sp>
        <p:nvSpPr>
          <p:cNvPr id="9" name="Rectangle 8"/>
          <p:cNvSpPr/>
          <p:nvPr/>
        </p:nvSpPr>
        <p:spPr>
          <a:xfrm>
            <a:off x="6185916" y="2331720"/>
            <a:ext cx="5362956" cy="640080"/>
          </a:xfrm>
          <a:prstGeom prst="rect">
            <a:avLst/>
          </a:prstGeom>
          <a:solidFill>
            <a:srgbClr val="F2F5FA"/>
          </a:solidFill>
          <a:ln>
            <a:solidFill>
              <a:srgbClr val="D0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77356" y="2331720"/>
            <a:ext cx="5180076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1A1A1A"/>
                </a:solidFill>
                <a:latin typeface="DejaVu Sans"/>
              </a:rPr>
              <a:t>URL (hoặc files) → manifest + download_job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108960"/>
            <a:ext cx="5362956" cy="640080"/>
          </a:xfrm>
          <a:prstGeom prst="rect">
            <a:avLst/>
          </a:prstGeom>
          <a:solidFill>
            <a:srgbClr val="FFFFFF"/>
          </a:solidFill>
          <a:ln>
            <a:solidFill>
              <a:srgbClr val="D0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19" y="3108960"/>
            <a:ext cx="5180076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1A1A1A"/>
                </a:solidFill>
                <a:latin typeface="DejaVu Sans"/>
              </a:rPr>
              <a:t>2. Slicing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85916" y="3108960"/>
            <a:ext cx="5362956" cy="640080"/>
          </a:xfrm>
          <a:prstGeom prst="rect">
            <a:avLst/>
          </a:prstGeom>
          <a:solidFill>
            <a:srgbClr val="FFFFFF"/>
          </a:solidFill>
          <a:ln>
            <a:solidFill>
              <a:srgbClr val="D0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77356" y="3108960"/>
            <a:ext cx="5180076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1A1A1A"/>
                </a:solidFill>
                <a:latin typeface="DejaVu Sans"/>
              </a:rPr>
              <a:t>raw/*.png → sliced/*.png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886200"/>
            <a:ext cx="5362956" cy="640080"/>
          </a:xfrm>
          <a:prstGeom prst="rect">
            <a:avLst/>
          </a:prstGeom>
          <a:solidFill>
            <a:srgbClr val="F2F5FA"/>
          </a:solidFill>
          <a:ln>
            <a:solidFill>
              <a:srgbClr val="D0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19" y="3886200"/>
            <a:ext cx="5180076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1A1A1A"/>
                </a:solidFill>
                <a:latin typeface="DejaVu Sans"/>
              </a:rPr>
              <a:t>3. Detector + LaMa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85916" y="3886200"/>
            <a:ext cx="5362956" cy="640080"/>
          </a:xfrm>
          <a:prstGeom prst="rect">
            <a:avLst/>
          </a:prstGeom>
          <a:solidFill>
            <a:srgbClr val="F2F5FA"/>
          </a:solidFill>
          <a:ln>
            <a:solidFill>
              <a:srgbClr val="D0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77356" y="3886200"/>
            <a:ext cx="5180076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1A1A1A"/>
                </a:solidFill>
                <a:latin typeface="DejaVu Sans"/>
              </a:rPr>
              <a:t>sliced/*.png → clean_*.png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663440"/>
            <a:ext cx="5362956" cy="640080"/>
          </a:xfrm>
          <a:prstGeom prst="rect">
            <a:avLst/>
          </a:prstGeom>
          <a:solidFill>
            <a:srgbClr val="FFFFFF"/>
          </a:solidFill>
          <a:ln>
            <a:solidFill>
              <a:srgbClr val="D0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19" y="4663440"/>
            <a:ext cx="5180076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1A1A1A"/>
                </a:solidFill>
                <a:latin typeface="DejaVu Sans"/>
              </a:rPr>
              <a:t>4. OCR + render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85916" y="4663440"/>
            <a:ext cx="5362956" cy="640080"/>
          </a:xfrm>
          <a:prstGeom prst="rect">
            <a:avLst/>
          </a:prstGeom>
          <a:solidFill>
            <a:srgbClr val="FFFFFF"/>
          </a:solidFill>
          <a:ln>
            <a:solidFill>
              <a:srgbClr val="D0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7356" y="4663440"/>
            <a:ext cx="5180076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1A1A1A"/>
                </a:solidFill>
                <a:latin typeface="DejaVu Sans"/>
              </a:rPr>
              <a:t>clean_*.png → OCR + output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5440679"/>
            <a:ext cx="5362956" cy="640080"/>
          </a:xfrm>
          <a:prstGeom prst="rect">
            <a:avLst/>
          </a:prstGeom>
          <a:solidFill>
            <a:srgbClr val="F2F5FA"/>
          </a:solidFill>
          <a:ln>
            <a:solidFill>
              <a:srgbClr val="D0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19" y="5440679"/>
            <a:ext cx="5180076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1A1A1A"/>
                </a:solidFill>
                <a:latin typeface="DejaVu Sans"/>
              </a:rPr>
              <a:t>5. Export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85916" y="5440679"/>
            <a:ext cx="5362956" cy="640080"/>
          </a:xfrm>
          <a:prstGeom prst="rect">
            <a:avLst/>
          </a:prstGeom>
          <a:solidFill>
            <a:srgbClr val="F2F5FA"/>
          </a:solidFill>
          <a:ln>
            <a:solidFill>
              <a:srgbClr val="D0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77356" y="5440679"/>
            <a:ext cx="5180076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1A1A1A"/>
                </a:solidFill>
                <a:latin typeface="DejaVu Sans"/>
              </a:rPr>
              <a:t>manifest + output → ZIP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126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95959"/>
                </a:solidFill>
                <a:latin typeface="DejaVu Sans"/>
              </a:rPr>
              <a:t>Nguồn: app/pipeline.py, app/routers</a:t>
            </a:r>
          </a:p>
        </p:txBody>
      </p:sp>
    </p:spTree>
  </p:cSld>
  <p:transition>
    <p:fade spd="med"/>
  </p:transition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1A1A"/>
                </a:solidFill>
                <a:latin typeface="DejaVu Sans"/>
              </a:rPr>
              <a:t>Điểm mạnh chính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554480"/>
            <a:ext cx="3474720" cy="4023360"/>
          </a:xfrm>
          <a:prstGeom prst="rect">
            <a:avLst/>
          </a:prstGeom>
          <a:solidFill>
            <a:srgbClr val="F2F5FA"/>
          </a:solidFill>
          <a:ln>
            <a:solidFill>
              <a:srgbClr val="D0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2926080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800" b="1">
                <a:solidFill>
                  <a:srgbClr val="0B5ED7"/>
                </a:solidFill>
                <a:latin typeface="DejaVu Sans"/>
              </a:rPr>
              <a:t>3 lớp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383280"/>
            <a:ext cx="29260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A1A1A"/>
                </a:solidFill>
                <a:latin typeface="DejaVu Sans"/>
              </a:rPr>
              <a:t>Rõ &amp; độc lập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49039"/>
            <a:ext cx="29260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595959"/>
                </a:solidFill>
                <a:latin typeface="DejaVu Sans"/>
              </a:rPr>
              <a:t>UI / API / Core tách nhau, API hợp nhất một cổng</a:t>
            </a:r>
          </a:p>
        </p:txBody>
      </p:sp>
      <p:sp>
        <p:nvSpPr>
          <p:cNvPr id="7" name="Rectangle 6"/>
          <p:cNvSpPr/>
          <p:nvPr/>
        </p:nvSpPr>
        <p:spPr>
          <a:xfrm>
            <a:off x="4416552" y="1554480"/>
            <a:ext cx="3474720" cy="4023360"/>
          </a:xfrm>
          <a:prstGeom prst="rect">
            <a:avLst/>
          </a:prstGeom>
          <a:solidFill>
            <a:srgbClr val="F2F5FA"/>
          </a:solidFill>
          <a:ln>
            <a:solidFill>
              <a:srgbClr val="D0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90872" y="1828800"/>
            <a:ext cx="2926080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800" b="1">
                <a:solidFill>
                  <a:srgbClr val="0B5ED7"/>
                </a:solidFill>
                <a:latin typeface="DejaVu Sans"/>
              </a:rPr>
              <a:t>14 router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90872" y="3383280"/>
            <a:ext cx="29260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A1A1A"/>
                </a:solidFill>
                <a:latin typeface="DejaVu Sans"/>
              </a:rPr>
              <a:t>Adapter tải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90872" y="3749039"/>
            <a:ext cx="29260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595959"/>
                </a:solidFill>
                <a:latin typeface="DejaVu Sans"/>
              </a:rPr>
              <a:t>Static, JS, upload ảnh/ZIP/CBZ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93023" y="1554480"/>
            <a:ext cx="3474720" cy="4023360"/>
          </a:xfrm>
          <a:prstGeom prst="rect">
            <a:avLst/>
          </a:prstGeom>
          <a:solidFill>
            <a:srgbClr val="F2F5FA"/>
          </a:solidFill>
          <a:ln>
            <a:solidFill>
              <a:srgbClr val="D0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67344" y="1828800"/>
            <a:ext cx="2926080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800" b="1">
                <a:solidFill>
                  <a:srgbClr val="0B5ED7"/>
                </a:solidFill>
                <a:latin typeface="DejaVu Sans"/>
              </a:rPr>
              <a:t>100% CPU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67344" y="3383280"/>
            <a:ext cx="29260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A1A1A"/>
                </a:solidFill>
                <a:latin typeface="DejaVu Sans"/>
              </a:rPr>
              <a:t>ONNX + Paddle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67344" y="3749039"/>
            <a:ext cx="29260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595959"/>
                </a:solidFill>
                <a:latin typeface="DejaVu Sans"/>
              </a:rPr>
              <a:t>Kiuyha, LaMa, CTD, OCR — không cần GPU</a:t>
            </a:r>
          </a:p>
        </p:txBody>
      </p:sp>
    </p:spTree>
  </p:cSld>
  <p:transition>
    <p:fade spd="med"/>
  </p:transition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1A1A"/>
                </a:solidFill>
                <a:latin typeface="DejaVu Sans"/>
              </a:rPr>
              <a:t>Rủi ro chính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554480"/>
            <a:ext cx="3474720" cy="4023360"/>
          </a:xfrm>
          <a:prstGeom prst="rect">
            <a:avLst/>
          </a:prstGeom>
          <a:solidFill>
            <a:srgbClr val="F2F5FA"/>
          </a:solidFill>
          <a:ln>
            <a:solidFill>
              <a:srgbClr val="D0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2926080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800" b="1">
                <a:solidFill>
                  <a:srgbClr val="0B5ED7"/>
                </a:solidFill>
                <a:latin typeface="DejaVu Sans"/>
              </a:rPr>
              <a:t>Crawler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383280"/>
            <a:ext cx="29260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A1A1A"/>
                </a:solidFill>
                <a:latin typeface="DejaVu Sans"/>
              </a:rPr>
              <a:t>Thay đổi HTML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49039"/>
            <a:ext cx="29260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595959"/>
                </a:solidFill>
                <a:latin typeface="DejaVu Sans"/>
              </a:rPr>
              <a:t>Site đổi HTML là adapter hỏng; phụ thuộc Playwright</a:t>
            </a:r>
          </a:p>
        </p:txBody>
      </p:sp>
      <p:sp>
        <p:nvSpPr>
          <p:cNvPr id="7" name="Rectangle 6"/>
          <p:cNvSpPr/>
          <p:nvPr/>
        </p:nvSpPr>
        <p:spPr>
          <a:xfrm>
            <a:off x="4416552" y="1554480"/>
            <a:ext cx="3474720" cy="4023360"/>
          </a:xfrm>
          <a:prstGeom prst="rect">
            <a:avLst/>
          </a:prstGeom>
          <a:solidFill>
            <a:srgbClr val="F2F5FA"/>
          </a:solidFill>
          <a:ln>
            <a:solidFill>
              <a:srgbClr val="D0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90872" y="1828800"/>
            <a:ext cx="2926080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800" b="1">
                <a:solidFill>
                  <a:srgbClr val="0B5ED7"/>
                </a:solidFill>
                <a:latin typeface="DejaVu Sans"/>
              </a:rPr>
              <a:t>pipeline.py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90872" y="3383280"/>
            <a:ext cx="29260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A1A1A"/>
                </a:solidFill>
                <a:latin typeface="DejaVu Sans"/>
              </a:rPr>
              <a:t>817 dòng riêng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90872" y="3749039"/>
            <a:ext cx="29260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595959"/>
                </a:solidFill>
                <a:latin typeface="DejaVu Sans"/>
              </a:rPr>
              <a:t>Chưa tính phụ thuộc, lock phức tạp, E2E mỏng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93023" y="1554480"/>
            <a:ext cx="3474720" cy="4023360"/>
          </a:xfrm>
          <a:prstGeom prst="rect">
            <a:avLst/>
          </a:prstGeom>
          <a:solidFill>
            <a:srgbClr val="F2F5FA"/>
          </a:solidFill>
          <a:ln>
            <a:solidFill>
              <a:srgbClr val="D0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67344" y="1828800"/>
            <a:ext cx="2926080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800" b="1">
                <a:solidFill>
                  <a:srgbClr val="0B5ED7"/>
                </a:solidFill>
                <a:latin typeface="DejaVu Sans"/>
              </a:rPr>
              <a:t>Nhiều file tạm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67344" y="3383280"/>
            <a:ext cx="29260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A1A1A"/>
                </a:solidFill>
                <a:latin typeface="DejaVu Sans"/>
              </a:rPr>
              <a:t>raw → 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67344" y="3749039"/>
            <a:ext cx="29260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595959"/>
                </a:solidFill>
                <a:latin typeface="DejaVu Sans"/>
              </a:rPr>
              <a:t>raw, processed, output, temp dễ lệch manifest</a:t>
            </a:r>
          </a:p>
        </p:txBody>
      </p:sp>
    </p:spTree>
  </p:cSld>
  <p:transition>
    <p:fade spd="med"/>
  </p:transition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01168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>
                <a:solidFill>
                  <a:srgbClr val="B0C4DE"/>
                </a:solidFill>
                <a:latin typeface="DejaVu Sans"/>
              </a:rPr>
              <a:t>Kết luận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834640"/>
            <a:ext cx="100584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DejaVu Sans"/>
              </a:rPr>
              <a:t>Manga Translator = FastAPI + pipeline điều phối + ONNX CPU + manifest lock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12064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8FA3C7"/>
                </a:solidFill>
                <a:latin typeface="DejaVu Sans"/>
              </a:rPr>
              <a:t>Nguồn: docs/ARCHITECTURE.md (6/6/2026)</a:t>
            </a:r>
          </a:p>
        </p:txBody>
      </p:sp>
    </p:spTree>
  </p:cSld>
  <p:transition>
    <p:fade spd="med"/>
  </p:transition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554480"/>
            <a:ext cx="1088136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1A1A1A"/>
                </a:solidFill>
                <a:latin typeface="DejaVu Sans"/>
              </a:rPr>
              <a:t>Cảm ơn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20624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>
                <a:solidFill>
                  <a:srgbClr val="595959"/>
                </a:solidFill>
                <a:latin typeface="DejaVu Sans"/>
              </a:rPr>
              <a:t>Manga Translator — kiến trúc hệ thống &amp; phân tích repo</a:t>
            </a:r>
          </a:p>
        </p:txBody>
      </p:sp>
    </p:spTree>
  </p:cSld>
  <p:transition>
    <p:fade spd="med"/>
  </p:transition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