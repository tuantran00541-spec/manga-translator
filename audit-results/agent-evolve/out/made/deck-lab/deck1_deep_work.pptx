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286000"/>
            <a:ext cx="548640" cy="50800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10972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DejaVu Sans"/>
              </a:rPr>
              <a:t>The Deep Work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4A90D9"/>
                </a:solidFill>
                <a:latin typeface="DejaVu Sans"/>
              </a:rPr>
              <a:t>Why focused attention is the superpower of the 21st century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4A90D9"/>
                </a:solidFill>
                <a:latin typeface="DejaVu Sans"/>
              </a:rPr>
              <a:t>·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92B"/>
                </a:solidFill>
                <a:latin typeface="DejaVu Sans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B3A5C"/>
                </a:solidFill>
                <a:latin typeface="DejaVu Sans"/>
              </a:rPr>
              <a:t>Today's path in four stops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8100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792B"/>
                </a:solidFill>
                <a:latin typeface="DejaVu Sa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56232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B3A5C"/>
                </a:solidFill>
                <a:latin typeface="DejaVu Sans"/>
              </a:rPr>
              <a:t>The four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67712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7B8A"/>
                </a:solidFill>
                <a:latin typeface="DejaVu Sans"/>
              </a:rPr>
              <a:t>The system that makes deep work possible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792B"/>
                </a:solidFill>
                <a:latin typeface="DejaVu Sa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907792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B3A5C"/>
                </a:solidFill>
                <a:latin typeface="DejaVu Sans"/>
              </a:rPr>
              <a:t>The attention economy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319272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7B8A"/>
                </a:solidFill>
                <a:latin typeface="DejaVu Sans"/>
              </a:rPr>
              <a:t>Why your focus was engineered 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792B"/>
                </a:solidFill>
                <a:latin typeface="DejaVu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959352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B3A5C"/>
                </a:solidFill>
                <a:latin typeface="DejaVu Sans"/>
              </a:rPr>
              <a:t>The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370832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7B8A"/>
                </a:solidFill>
                <a:latin typeface="DejaVu Sans"/>
              </a:rPr>
              <a:t>What focus costs and what it returns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8348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792B"/>
                </a:solidFill>
                <a:latin typeface="DejaVu San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010912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B3A5C"/>
                </a:solidFill>
                <a:latin typeface="DejaVu Sans"/>
              </a:rPr>
              <a:t>The start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422392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7B8A"/>
                </a:solidFill>
                <a:latin typeface="DejaVu Sans"/>
              </a:rPr>
              <a:t>Your next three focused hours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92B"/>
                </a:solidFill>
                <a:latin typeface="DejaVu Sans"/>
              </a:rPr>
              <a:t>THE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B3A5C"/>
                </a:solidFill>
                <a:latin typeface="DejaVu Sans"/>
              </a:rPr>
              <a:t>Four rules that make deep work a habit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8100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522143" cy="32918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522143" cy="10972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20649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E7B8A"/>
                </a:solidFill>
                <a:latin typeface="DejaVu Sans"/>
              </a:rPr>
              <a:t>RULE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206494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B3A5C"/>
                </a:solidFill>
                <a:latin typeface="DejaVu Sans"/>
              </a:rPr>
              <a:t>Work deeply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83280"/>
            <a:ext cx="2064943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B2B2B"/>
                </a:solidFill>
                <a:latin typeface="DejaVu Sans"/>
              </a:rPr>
              <a:t>Schedule it, defend it, count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36543" y="1828800"/>
            <a:ext cx="2522143" cy="32918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36543" y="1828800"/>
            <a:ext cx="2522143" cy="109728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65143" y="2148840"/>
            <a:ext cx="20649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E7B8A"/>
                </a:solidFill>
                <a:latin typeface="DejaVu Sans"/>
              </a:rPr>
              <a:t>RULE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5143" y="2514600"/>
            <a:ext cx="206494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B3A5C"/>
                </a:solidFill>
                <a:latin typeface="DejaVu Sans"/>
              </a:rPr>
              <a:t>Embrace boredom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5143" y="3383280"/>
            <a:ext cx="2064943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B2B2B"/>
                </a:solidFill>
                <a:latin typeface="DejaVu Sans"/>
              </a:rPr>
              <a:t>Boredom is the gym for focus.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3007" y="1828800"/>
            <a:ext cx="2522143" cy="32918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007" y="1828800"/>
            <a:ext cx="2522143" cy="10972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1607" y="2148840"/>
            <a:ext cx="20649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E7B8A"/>
                </a:solidFill>
                <a:latin typeface="DejaVu Sans"/>
              </a:rPr>
              <a:t>RULE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1607" y="2514600"/>
            <a:ext cx="206494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B3A5C"/>
                </a:solidFill>
                <a:latin typeface="DejaVu Sans"/>
              </a:rPr>
              <a:t>Ruthless scheduling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383280"/>
            <a:ext cx="2064943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B2B2B"/>
                </a:solidFill>
                <a:latin typeface="DejaVu Sans"/>
              </a:rPr>
              <a:t>Know exactly where time goes.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29471" y="1828800"/>
            <a:ext cx="2522143" cy="32918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29471" y="1828800"/>
            <a:ext cx="2522143" cy="109728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8071" y="2148840"/>
            <a:ext cx="20649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E7B8A"/>
                </a:solidFill>
                <a:latin typeface="DejaVu Sans"/>
              </a:rPr>
              <a:t>RULE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8071" y="2514600"/>
            <a:ext cx="206494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B3A5C"/>
                </a:solidFill>
                <a:latin typeface="DejaVu Sans"/>
              </a:rPr>
              <a:t>Drain the shallows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3383280"/>
            <a:ext cx="2064943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B2B2B"/>
                </a:solidFill>
                <a:latin typeface="DejaVu Sans"/>
              </a:rPr>
              <a:t>Batch the shallow, protect the deep.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92B"/>
                </a:solidFill>
                <a:latin typeface="DejaVu Sans"/>
              </a:rPr>
              <a:t>THE ATTENTION ECONOMY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B3A5C"/>
                </a:solidFill>
                <a:latin typeface="DejaVu Sans"/>
              </a:rPr>
              <a:t>Your focus was engineered away on purpose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8100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11535" cy="20116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A90D9"/>
                </a:solidFill>
                <a:latin typeface="DejaVu Sans"/>
              </a:rPr>
              <a:t>DESIGNERS OF DEPENDENCE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102714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2B2B2B"/>
                </a:solidFill>
                <a:latin typeface="DejaVu Sans"/>
              </a:rPr>
              <a:t>Every feed is a slot machine: a variable reward pulls your thumb, your thumb pulls your focus.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2B2B2B"/>
                </a:solidFill>
                <a:latin typeface="DejaVu Sans"/>
              </a:rPr>
              <a:t>The product is your attention. The competitor is everything you were going to 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069080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A90D9"/>
                </a:solidFill>
                <a:latin typeface="DejaVu Sans"/>
              </a:rPr>
              <a:t>WHY WILLS POWER LOSES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434840"/>
            <a:ext cx="102714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2B2B2B"/>
                </a:solidFill>
                <a:latin typeface="DejaVu Sans"/>
              </a:rPr>
              <a:t>Decision fatigue is real: willpower is a budget, not a character trait.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2B2B2B"/>
                </a:solidFill>
                <a:latin typeface="DejaVu Sans"/>
              </a:rPr>
              <a:t>Design the environment instead of the intent - friction is a tool.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92B"/>
                </a:solidFill>
                <a:latin typeface="DejaVu Sans"/>
              </a:rPr>
              <a:t>THE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B3A5C"/>
                </a:solidFill>
                <a:latin typeface="DejaVu Sans"/>
              </a:rPr>
              <a:t>Distraction is expensive - and it compounds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8100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38404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>
                <a:solidFill>
                  <a:srgbClr val="E8792B"/>
                </a:solidFill>
                <a:latin typeface="DejaVu Sans"/>
              </a:rPr>
              <a:t>23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331720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E7B8A"/>
                </a:solidFill>
                <a:latin typeface="DejaVu Sans"/>
              </a:rPr>
              <a:t>average time to return after an interruption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6E7B8A"/>
                </a:solidFill>
                <a:latin typeface="DejaVu Sans"/>
              </a:rPr>
              <a:t>(Lab of Glennon Doyle-Murthy, 2013)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840480"/>
            <a:ext cx="3454298" cy="18288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069080"/>
            <a:ext cx="29970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B3A5C"/>
                </a:solidFill>
                <a:latin typeface="DejaVu Sans"/>
              </a:rPr>
              <a:t>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8006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B2B"/>
                </a:solidFill>
                <a:latin typeface="DejaVu Sans"/>
              </a:rPr>
              <a:t>drop in productivity when work is fragmented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3840480"/>
            <a:ext cx="3454298" cy="18288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7298" y="4069080"/>
            <a:ext cx="29970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B3A5C"/>
                </a:solidFill>
                <a:latin typeface="DejaVu Sans"/>
              </a:rPr>
              <a:t>64%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7298" y="48006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B2B"/>
                </a:solidFill>
                <a:latin typeface="DejaVu Sans"/>
              </a:rPr>
              <a:t>of knowledge workers call focus 'extremely important'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7316" y="3840480"/>
            <a:ext cx="3454298" cy="18288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5916" y="4069080"/>
            <a:ext cx="29970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B3A5C"/>
                </a:solidFill>
                <a:latin typeface="DejaVu Sans"/>
              </a:rPr>
              <a:t>0.4x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5916" y="48006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B2B"/>
                </a:solidFill>
                <a:latin typeface="DejaVu Sans"/>
              </a:rPr>
              <a:t>value of shallow work vs. deep work per hour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92B"/>
                </a:solidFill>
                <a:latin typeface="DejaVu Sans"/>
              </a:rPr>
              <a:t>THE PAYOFF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B3A5C"/>
                </a:solidFill>
                <a:latin typeface="DejaVu Sans"/>
              </a:rPr>
              <a:t>Focus pays back: deep vs. shallow output per hour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8100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157984"/>
            <a:ext cx="822960" cy="2139696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343400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E7B8A"/>
                </a:solidFill>
                <a:latin typeface="DejaVu Sans"/>
              </a:rPr>
              <a:t>Deep block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3794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B3A5C"/>
                </a:solidFill>
                <a:latin typeface="DejaVu Sans"/>
              </a:rPr>
              <a:t>78%</a:t>
            </a:r>
          </a:p>
        </p:txBody>
      </p:sp>
      <p:sp>
        <p:nvSpPr>
          <p:cNvPr id="8" name="Rectangle 7"/>
          <p:cNvSpPr/>
          <p:nvPr/>
        </p:nvSpPr>
        <p:spPr>
          <a:xfrm>
            <a:off x="2308860" y="2651760"/>
            <a:ext cx="822960" cy="164592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71700" y="4343400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E7B8A"/>
                </a:solidFill>
                <a:latin typeface="DejaVu Sans"/>
              </a:rPr>
              <a:t>Deep + shallow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71700" y="23317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B3A5C"/>
                </a:solidFill>
                <a:latin typeface="DejaVu Sans"/>
              </a:rPr>
              <a:t>60%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94760" y="3337561"/>
            <a:ext cx="822960" cy="960119"/>
          </a:xfrm>
          <a:prstGeom prst="rect">
            <a:avLst/>
          </a:prstGeom>
          <a:solidFill>
            <a:srgbClr val="8FB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4343400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E7B8A"/>
                </a:solidFill>
                <a:latin typeface="DejaVu Sans"/>
              </a:rPr>
              <a:t>Shallow 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017521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B3A5C"/>
                </a:solidFill>
                <a:latin typeface="DejaVu Sans"/>
              </a:rPr>
              <a:t>35%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80660" y="3749040"/>
            <a:ext cx="822960" cy="548640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43500" y="4343400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E7B8A"/>
                </a:solidFill>
                <a:latin typeface="DejaVu Sans"/>
              </a:rPr>
              <a:t>Meetings + chat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3500" y="34290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B3A5C"/>
                </a:solidFill>
                <a:latin typeface="DejaVu Sans"/>
              </a:rPr>
              <a:t>20%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3968496"/>
            <a:ext cx="822960" cy="329184"/>
          </a:xfrm>
          <a:prstGeom prst="rect">
            <a:avLst/>
          </a:prstGeom>
          <a:solidFill>
            <a:srgbClr val="6E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4343400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E7B8A"/>
                </a:solidFill>
                <a:latin typeface="DejaVu Sans"/>
              </a:rPr>
              <a:t>After 3rd interrupt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64845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B3A5C"/>
                </a:solidFill>
                <a:latin typeface="DejaVu Sans"/>
              </a:rPr>
              <a:t>12%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800600"/>
            <a:ext cx="6766560" cy="12700"/>
          </a:xfrm>
          <a:prstGeom prst="rect">
            <a:avLst/>
          </a:prstGeom>
          <a:solidFill>
            <a:srgbClr val="6E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80060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E7B8A"/>
                </a:solidFill>
                <a:latin typeface="DejaVu Sans"/>
              </a:rPr>
              <a:t>relative output per hour, 1.0 = a full deep block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0" y="201168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A90D9"/>
                </a:solidFill>
                <a:latin typeface="DejaVu Sans"/>
              </a:rPr>
              <a:t>TWO WAYS TO READ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2423160"/>
            <a:ext cx="4206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B3A5C"/>
                </a:solidFill>
                <a:latin typeface="DejaVu Sans"/>
              </a:rPr>
              <a:t>Every hour of shallow work is a 70% discount on the same hour of deep work.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0" y="3657600"/>
            <a:ext cx="4206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2B2B2B"/>
                </a:solidFill>
                <a:latin typeface="DejaVu Sans"/>
              </a:rPr>
              <a:t>Interruptions are the worst offender: after a third interruption, the session returns only 12% of a deep block. Protect the last hour of the day.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463040"/>
            <a:ext cx="548640" cy="50800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FFFFFF"/>
                </a:solidFill>
                <a:latin typeface="DejaVu Sans"/>
              </a:rPr>
              <a:t>Start with the smallest unit you can defend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6400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2000" b="0">
                <a:solidFill>
                  <a:srgbClr val="4A90D9"/>
                </a:solidFill>
                <a:latin typeface="DejaVu Sans"/>
              </a:rPr>
              <a:t>1. Pick one deep goal for the next 90 days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4A90D9"/>
                </a:solidFill>
                <a:latin typeface="DejaVu Sans"/>
              </a:rPr>
              <a:t>2. Block 4 hours, two days a week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4A90D9"/>
                </a:solidFill>
                <a:latin typeface="DejaVu Sans"/>
              </a:rPr>
              <a:t>3. Switch the phone off, not on silent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DejaVu Sans"/>
              </a:rPr>
              <a:t>Deep work is a craft: rehearse it the same way you rehearse any skill - deliberately, daily, visibly.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4A90D9"/>
                </a:solidFill>
                <a:latin typeface="DejaVu Sans"/>
              </a:rPr>
              <a:t>·  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