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103120"/>
            <a:ext cx="548640" cy="4572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Onboarding That Sticks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E8E2D8"/>
                </a:solidFill>
                <a:latin typeface="DejaVu Sans"/>
              </a:rPr>
              <a:t>The 30-day path from day one to day ninety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8E2D8"/>
                </a:solidFill>
                <a:latin typeface="DejaVu Sans"/>
              </a:rPr>
              <a:t>deck  ·  1</a:t>
            </a:r>
          </a:p>
        </p:txBody>
      </p:sp>
    </p:spTree>
  </p:cSld>
  <p:clrMapOvr>
    <a:masterClrMapping/>
  </p:clrMapOvr>
  <p:transition spd="med">
    <p:push dur="70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92B"/>
                </a:solidFill>
                <a:latin typeface="DejaVu Sans"/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DejaVu Sans"/>
              </a:rPr>
              <a:t>Days 0-7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8E2D8"/>
                </a:solidFill>
                <a:latin typeface="DejaVu Sans"/>
              </a:rPr>
              <a:t>Orient before you load anyone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8E2D8"/>
                </a:solidFill>
                <a:latin typeface="DejaVu Sans"/>
              </a:rPr>
              <a:t>deck  ·  2</a:t>
            </a:r>
          </a:p>
        </p:txBody>
      </p:sp>
    </p:spTree>
  </p:cSld>
  <p:clrMapOvr>
    <a:masterClrMapping/>
  </p:clrMapOvr>
  <p:transition spd="med">
    <p:push dur="70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DAYS 0-7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Four steps, first week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657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452878" cy="457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066544"/>
            <a:ext cx="226999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DejaVu Sans"/>
              </a:rPr>
              <a:t>1. Day 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2452878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217855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Laptop, badge, one mentor, one office hour with the boss.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8678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E8792B"/>
                </a:solidFill>
                <a:latin typeface="DejaVu San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8718" y="2011680"/>
            <a:ext cx="2452878" cy="457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0158" y="2066544"/>
            <a:ext cx="226999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DejaVu Sans"/>
              </a:rPr>
              <a:t>2. Day 1-2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8718" y="2468880"/>
            <a:ext cx="2452878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5877" y="2651760"/>
            <a:ext cx="217855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Read the product, file one tiny ticket, meet three people.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7316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E8792B"/>
                </a:solidFill>
                <a:latin typeface="DejaVu Sans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7356" y="2011680"/>
            <a:ext cx="2452878" cy="457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8796" y="2066544"/>
            <a:ext cx="226999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DejaVu Sans"/>
              </a:rPr>
              <a:t>3. Day 3-5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356" y="2468880"/>
            <a:ext cx="2452878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4516" y="2651760"/>
            <a:ext cx="217855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Ship something small, get the first code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5954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E8792B"/>
                </a:solidFill>
                <a:latin typeface="DejaVu Sans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5994" y="2011680"/>
            <a:ext cx="2452878" cy="457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7434" y="2066544"/>
            <a:ext cx="226999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DejaVu Sans"/>
              </a:rPr>
              <a:t>4. Day 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5994" y="2468880"/>
            <a:ext cx="2452878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3154" y="2651760"/>
            <a:ext cx="217855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30-minute pulse: what blocked you, what helped.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DejaVu Sans"/>
              </a:rPr>
              <a:t>deck  ·  3</a:t>
            </a:r>
          </a:p>
        </p:txBody>
      </p:sp>
    </p:spTree>
  </p:cSld>
  <p:clrMapOvr>
    <a:masterClrMapping/>
  </p:clrMapOvr>
  <p:transition spd="med">
    <p:push dur="700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92B"/>
                </a:solidFill>
                <a:latin typeface="DejaVu Sans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DejaVu Sans"/>
              </a:rPr>
              <a:t>Days 8-30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8E2D8"/>
                </a:solidFill>
                <a:latin typeface="DejaVu Sans"/>
              </a:rPr>
              <a:t>Depth over breadth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8E2D8"/>
                </a:solidFill>
                <a:latin typeface="DejaVu Sans"/>
              </a:rPr>
              <a:t>deck  ·  4</a:t>
            </a:r>
          </a:p>
        </p:txBody>
      </p:sp>
    </p:spTree>
  </p:cSld>
  <p:clrMapOvr>
    <a:masterClrMapping/>
  </p:clrMapOvr>
  <p:transition spd="med">
    <p:push dur="700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DAYS 8-30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One feature,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657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3392423" cy="457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066544"/>
            <a:ext cx="32095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DejaVu Sans"/>
              </a:rPr>
              <a:t>1. Week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3392423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311810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Own a real ticket, no hand-holding, daily 15-min check-in.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8223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E8792B"/>
                </a:solidFill>
                <a:latin typeface="DejaVu San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2011680"/>
            <a:ext cx="3392423" cy="457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3" y="2066544"/>
            <a:ext cx="32095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DejaVu Sans"/>
              </a:rPr>
              <a:t>2. Week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8264" y="2468880"/>
            <a:ext cx="3392423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651760"/>
            <a:ext cx="311810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Pair with the domain expert twice; write the doc.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E8792B"/>
                </a:solidFill>
                <a:latin typeface="DejaVu Sans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6447" y="2011680"/>
            <a:ext cx="3392423" cy="457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7" y="2066544"/>
            <a:ext cx="32095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DejaVu Sans"/>
              </a:rPr>
              <a:t>3. Week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6447" y="2468880"/>
            <a:ext cx="3392423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7" y="2651760"/>
            <a:ext cx="311810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Present the work, take the critique, ship the fix.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DejaVu Sans"/>
              </a:rPr>
              <a:t>deck  ·  5</a:t>
            </a:r>
          </a:p>
        </p:txBody>
      </p:sp>
    </p:spTree>
  </p:cSld>
  <p:clrMapOvr>
    <a:masterClrMapping/>
  </p:clrMapOvr>
  <p:transition spd="med">
    <p:push dur="700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92B"/>
                </a:solidFill>
                <a:latin typeface="DejaVu Sans"/>
              </a:rPr>
              <a:t>THE CONTRAST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3A5C"/>
                </a:solidFill>
                <a:latin typeface="DejaVu Sans"/>
              </a:rPr>
              <a:t>Two very different first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657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212080" cy="457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Dense 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5212080" cy="4572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019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Ownership onboarding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521208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468880"/>
            <a:ext cx="521208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Six trainings, two wikis, one mentor rotating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603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One mentor, one real ticket by day five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37560"/>
            <a:ext cx="521208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3337560"/>
            <a:ext cx="521208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No owned work until week six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4290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Daily check-in, weekly demo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521208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206240"/>
            <a:ext cx="521208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97679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Exit interview: 'still learning the ropes'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97679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Exit interview: 'already shipping'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B7D"/>
                </a:solidFill>
                <a:latin typeface="DejaVu Sans"/>
              </a:rPr>
              <a:t>deck  ·  6</a:t>
            </a:r>
          </a:p>
        </p:txBody>
      </p:sp>
    </p:spTree>
  </p:cSld>
  <p:clrMapOvr>
    <a:masterClrMapping/>
  </p:clrMapOvr>
  <p:transition spd="med">
    <p:push dur="700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554480"/>
            <a:ext cx="548640" cy="4572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DejaVu Sans"/>
              </a:rPr>
              <a:t>Onboarding is a product, not a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6858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2D8"/>
                </a:solidFill>
                <a:latin typeface="DejaVu Sans"/>
              </a:rPr>
              <a:t>-  Shrink the first week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2D8"/>
                </a:solidFill>
                <a:latin typeface="DejaVu Sans"/>
              </a:rPr>
              <a:t>-  Give real work early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E8E2D8"/>
                </a:solidFill>
                <a:latin typeface="DejaVu Sans"/>
              </a:rPr>
              <a:t>-  Measure by shipped, not 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DejaVu Sans"/>
              </a:rPr>
              <a:t>The new hire who ships by week two stays past year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E8E2D8"/>
                </a:solidFill>
                <a:latin typeface="DejaVu Sans"/>
              </a:rPr>
              <a:t>deck  ·  7</a:t>
            </a:r>
          </a:p>
        </p:txBody>
      </p:sp>
    </p:spTree>
  </p:cSld>
  <p:clrMapOvr>
    <a:masterClrMapping/>
  </p:clrMapOvr>
  <p:transition spd="med">
    <p:push dur="70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