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103120"/>
            <a:ext cx="548640" cy="4572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DejaVu Sans"/>
              </a:rPr>
              <a:t>Coffee vs. Tea at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E8E2D8"/>
                </a:solidFill>
                <a:latin typeface="DejaVu Sans"/>
              </a:rPr>
              <a:t>What the research says about your morning habit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E8E2D8"/>
                </a:solidFill>
                <a:latin typeface="DejaVu Sans"/>
              </a:rPr>
              <a:t>deck  ·  1</a:t>
            </a:r>
          </a:p>
        </p:txBody>
      </p:sp>
    </p:spTree>
  </p:cSld>
  <p:clrMapOvr>
    <a:masterClrMapping/>
  </p:clrMapOvr>
  <p:transition spd="med">
    <p:wipe dur="700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92B"/>
                </a:solidFill>
                <a:latin typeface="DejaVu Sans"/>
              </a:rPr>
              <a:t>HEAD TO 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0879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B3A5C"/>
                </a:solidFill>
                <a:latin typeface="DejaVu Sans"/>
              </a:rPr>
              <a:t>The two sides of the desk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657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212080" cy="4572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0195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DejaVu Sans"/>
              </a:rPr>
              <a:t>Coffee camp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828800"/>
            <a:ext cx="5212080" cy="45720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0195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DejaVu Sans"/>
              </a:rPr>
              <a:t>Tea camp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68880"/>
            <a:ext cx="5212080" cy="777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2468880"/>
            <a:ext cx="5212080" cy="777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6032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B2B2B"/>
                </a:solidFill>
                <a:latin typeface="DejaVu Sans"/>
              </a:rPr>
              <a:t>Caffeine 80-150mg per cup, onset in 20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56032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B2B2B"/>
                </a:solidFill>
                <a:latin typeface="DejaVu Sans"/>
              </a:rPr>
              <a:t>Caffeine 30-50mg plus L-theanine, calm onset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37560"/>
            <a:ext cx="5212080" cy="777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3337560"/>
            <a:ext cx="5212080" cy="777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2900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B2B2B"/>
                </a:solidFill>
                <a:latin typeface="DejaVu Sans"/>
              </a:rPr>
              <a:t>Strongest evidence for focus and task speed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42900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B2B2B"/>
                </a:solidFill>
                <a:latin typeface="DejaVu Sans"/>
              </a:rPr>
              <a:t>Evidence for steady attention, less jitter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06240"/>
            <a:ext cx="5212080" cy="777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4206240"/>
            <a:ext cx="5212080" cy="777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297679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B2B2B"/>
                </a:solidFill>
                <a:latin typeface="DejaVu Sans"/>
              </a:rPr>
              <a:t>Tolerance builds over the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297679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B2B2B"/>
                </a:solidFill>
                <a:latin typeface="DejaVu Sans"/>
              </a:rPr>
              <a:t>No tolerance issue if consumed sensibly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B7D"/>
                </a:solidFill>
                <a:latin typeface="DejaVu Sans"/>
              </a:rPr>
              <a:t>deck  ·  2</a:t>
            </a:r>
          </a:p>
        </p:txBody>
      </p:sp>
    </p:spTree>
  </p:cSld>
  <p:clrMapOvr>
    <a:masterClrMapping/>
  </p:clrMapOvr>
  <p:transition spd="med">
    <p:wipe dur="700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92B"/>
                </a:solidFill>
                <a:latin typeface="DejaVu Sans"/>
              </a:rPr>
              <a:t>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0879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B3A5C"/>
                </a:solidFill>
                <a:latin typeface="DejaVu Sans"/>
              </a:rPr>
              <a:t>Self-rated focus by beverage, one workday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657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606039"/>
            <a:ext cx="868680" cy="1508760"/>
          </a:xfrm>
          <a:prstGeom prst="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87952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4A5568"/>
                </a:solidFill>
                <a:latin typeface="DejaVu Sans"/>
              </a:rPr>
              <a:t>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5999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2A3A"/>
                </a:solidFill>
                <a:latin typeface="DejaVu Sans"/>
              </a:rPr>
              <a:t>55%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7000" y="2084832"/>
            <a:ext cx="868680" cy="2029967"/>
          </a:xfrm>
          <a:prstGeom prst="rect">
            <a:avLst/>
          </a:prstGeom>
          <a:solidFill>
            <a:srgbClr val="4A7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75560" y="4187952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4A5568"/>
                </a:solidFill>
                <a:latin typeface="DejaVu Sans"/>
              </a:rPr>
              <a:t>Tea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5560" y="176479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2A3A"/>
                </a:solidFill>
                <a:latin typeface="DejaVu Sans"/>
              </a:rPr>
              <a:t>74%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11040" y="1865376"/>
            <a:ext cx="868680" cy="2249424"/>
          </a:xfrm>
          <a:prstGeom prst="rect">
            <a:avLst/>
          </a:prstGeom>
          <a:solidFill>
            <a:srgbClr val="6B9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9600" y="4187952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4A5568"/>
                </a:solidFill>
                <a:latin typeface="DejaVu Sans"/>
              </a:rPr>
              <a:t>Coffee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9600" y="1545336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2A3A"/>
                </a:solidFill>
                <a:latin typeface="DejaVu Sans"/>
              </a:rPr>
              <a:t>82%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249424"/>
            <a:ext cx="868680" cy="1865376"/>
          </a:xfrm>
          <a:prstGeom prst="rect">
            <a:avLst/>
          </a:prstGeom>
          <a:solidFill>
            <a:srgbClr val="8FB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4187952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4A5568"/>
                </a:solidFill>
                <a:latin typeface="DejaVu Sans"/>
              </a:rPr>
              <a:t>Coffee 2x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929384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2A3A"/>
                </a:solidFill>
                <a:latin typeface="DejaVu Sans"/>
              </a:rPr>
              <a:t>68%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572000"/>
            <a:ext cx="6400800" cy="13716"/>
          </a:xfrm>
          <a:prstGeom prst="rect">
            <a:avLst/>
          </a:prstGeom>
          <a:solidFill>
            <a:srgbClr val="8A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64515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A5568"/>
                </a:solidFill>
                <a:latin typeface="DejaVu Sans"/>
              </a:rPr>
              <a:t>mean self-rated focus 0-1, n = 1,240 employees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1031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A90D9"/>
                </a:solidFill>
                <a:latin typeface="DejaVu Sans"/>
              </a:rPr>
              <a:t>How to 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514600"/>
            <a:ext cx="3840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B3A5C"/>
                </a:solidFill>
                <a:latin typeface="DejaVu Sans"/>
              </a:rPr>
              <a:t>One coffee beats two: the second cup costs more than it gives. Tea is the steady middle.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B7D"/>
                </a:solidFill>
                <a:latin typeface="DejaVu Sans"/>
              </a:rPr>
              <a:t>deck  ·  3</a:t>
            </a:r>
          </a:p>
        </p:txBody>
      </p:sp>
    </p:spTree>
  </p:cSld>
  <p:clrMapOvr>
    <a:masterClrMapping/>
  </p:clrMapOvr>
  <p:transition spd="med">
    <p:wipe dur="700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92B"/>
                </a:solidFill>
                <a:latin typeface="DejaVu Sans"/>
              </a:rPr>
              <a:t>THE LEVERS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0879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B3A5C"/>
                </a:solidFill>
                <a:latin typeface="DejaVu Sans"/>
              </a:rPr>
              <a:t>Three things that matter more than the cup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657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3840480"/>
            <a:ext cx="3453384" cy="2194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3840480"/>
            <a:ext cx="3453384" cy="1097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160520"/>
            <a:ext cx="299618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B3A5C"/>
                </a:solidFill>
                <a:latin typeface="DejaVu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029200"/>
            <a:ext cx="299618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B2B2B"/>
                </a:solidFill>
                <a:latin typeface="DejaVu Sans"/>
              </a:rPr>
              <a:t>Timing: coffee works best 90 min after waking, not at 6am.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7784" y="3840480"/>
            <a:ext cx="3453384" cy="2194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7784" y="3840480"/>
            <a:ext cx="3453384" cy="1097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6384" y="4160520"/>
            <a:ext cx="299618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B3A5C"/>
                </a:solidFill>
                <a:latin typeface="DejaVu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6384" y="5029200"/>
            <a:ext cx="299618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B2B2B"/>
                </a:solidFill>
                <a:latin typeface="DejaVu Sans"/>
              </a:rPr>
              <a:t>Consistency: same time daily beats bigger doses.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5488" y="3840480"/>
            <a:ext cx="3453384" cy="2194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5488" y="3840480"/>
            <a:ext cx="3453384" cy="109728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4088" y="4160520"/>
            <a:ext cx="299618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B3A5C"/>
                </a:solidFill>
                <a:latin typeface="DejaVu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4088" y="5029200"/>
            <a:ext cx="299618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B2B2B"/>
                </a:solidFill>
                <a:latin typeface="DejaVu Sans"/>
              </a:rPr>
              <a:t>Sleep first: no caffeine fixes a 5-hour night.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B7D"/>
                </a:solidFill>
                <a:latin typeface="DejaVu Sans"/>
              </a:rPr>
              <a:t>deck  ·  4</a:t>
            </a:r>
          </a:p>
        </p:txBody>
      </p:sp>
    </p:spTree>
  </p:cSld>
  <p:clrMapOvr>
    <a:masterClrMapping/>
  </p:clrMapOvr>
  <p:transition spd="med">
    <p:wipe dur="700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554480"/>
            <a:ext cx="548640" cy="4572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FFFFFF"/>
                </a:solidFill>
                <a:latin typeface="DejaVu Sans"/>
              </a:rPr>
              <a:t>Pick one, stay consistent, sleep 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68580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0">
                <a:solidFill>
                  <a:srgbClr val="E8E2D8"/>
                </a:solidFill>
                <a:latin typeface="DejaVu Sans"/>
              </a:rPr>
              <a:t>-  One cup, same time, nine out of ten days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E8E2D8"/>
                </a:solidFill>
                <a:latin typeface="DejaVu Sans"/>
              </a:rPr>
              <a:t>-  Track focus for two weeks, not feelings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E8E2D8"/>
                </a:solidFill>
                <a:latin typeface="DejaVu Sans"/>
              </a:rPr>
              <a:t>-  Protect the last hour of sleep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DejaVu Sans"/>
              </a:rPr>
              <a:t>The habit beats the molecule.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E8E2D8"/>
                </a:solidFill>
                <a:latin typeface="DejaVu Sans"/>
              </a:rPr>
              <a:t>deck  ·  5</a:t>
            </a:r>
          </a:p>
        </p:txBody>
      </p:sp>
    </p:spTree>
  </p:cSld>
  <p:clrMapOvr>
    <a:masterClrMapping/>
  </p:clrMapOvr>
  <p:transition spd="med">
    <p:wipe dur="70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