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Deep blocks</c:v>
                </c:pt>
              </c:strCache>
            </c:strRef>
          </c:tx>
          <c:spPr>
            <a:solidFill>
              <a:srgbClr val="9F7AF0"/>
            </a:solidFill>
          </c:spPr>
          <c:cat>
            <c:strRef>
              <c:f>Sheet1!$A$2:$A$6</c:f>
              <c:strCache>
                <c:ptCount val="5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4</c:v>
                </c:pt>
                <c:pt idx="4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Interruptions</c:v>
                </c:pt>
              </c:strCache>
            </c:strRef>
          </c:tx>
          <c:spPr>
            <a:solidFill>
              <a:srgbClr val="B8AEE6"/>
            </a:solidFill>
          </c:spPr>
          <c:cat>
            <c:strRef>
              <c:f>Sheet1!$A$2:$A$6</c:f>
              <c:strCache>
                <c:ptCount val="5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</c:v>
                </c:pt>
                <c:pt idx="1">
                  <c:v>7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4200" b="1">
                <a:solidFill>
                  <a:srgbClr val="F4F1FF"/>
                </a:solidFill>
                <a:latin typeface="DejaVu Sans"/>
              </a:rPr>
              <a:t>DEEP WORK</a:t>
            </a:r>
          </a:p>
          <a:p>
            <a:pPr>
              <a:spcAft>
                <a:spcPts val="0"/>
              </a:spcAft>
            </a:pPr>
            <a:r>
              <a:rPr sz="4200" b="1">
                <a:solidFill>
                  <a:srgbClr val="9F7AF0"/>
                </a:solidFill>
                <a:latin typeface="DejaVu Sans"/>
              </a:rPr>
              <a:t>in a Shallow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0">
                <a:solidFill>
                  <a:srgbClr val="B8AEE6"/>
                </a:solidFill>
                <a:latin typeface="DejaVu Sans"/>
              </a:rPr>
              <a:t>A four-block operating system for reclaiming 90 minutes of real thinking a 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deck-lab exercise · attention economics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47120" cy="59436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The Cost of Fragmented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5EE6C8"/>
                </a:solidFill>
                <a:latin typeface="DejaVu Sans"/>
              </a:rPr>
              <a:t>Attention residue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4F1FF"/>
                </a:solidFill>
                <a:latin typeface="DejaVu Sans"/>
              </a:rPr>
              <a:t>Every context switch leaves a cost. Studies put the resumption penalty at up to 40% of task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7373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5EE6C8"/>
                </a:solidFill>
                <a:latin typeface="DejaVu Sans"/>
              </a:rPr>
              <a:t>The shallow trap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4F1FF"/>
                </a:solidFill>
                <a:latin typeface="DejaVu Sans"/>
              </a:rPr>
              <a:t>Email, chat and feeds reward speed. Deep work rewards duration. Most work now lives in the shallow half.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B8AEE6"/>
                </a:solidFill>
                <a:latin typeface="DejaVu Sans"/>
              </a:rPr>
              <a:t>Deep work is a trainable skill, not a talent. The question is whether you schedule it — or just hope for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The Four Blocks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743200" cy="484632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B1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574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The 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3464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One 90-minute block, phone in another room. That is the unit of the system.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188720"/>
            <a:ext cx="2743200" cy="484632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4173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B2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0574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The ritual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83464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Same hour, same seat, same opening move. Rituals skip the decision loop.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188720"/>
            <a:ext cx="2743200" cy="484632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4173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B3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574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The 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83464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Track blocks weekly. Two per day, minimum, is the floor worth defending.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188720"/>
            <a:ext cx="2743200" cy="484632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14173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B4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0574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The kill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83464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One meeting or feed dies every week to make room. The block only works with a vacancy.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Blocks vs. Interruptions, Week by Week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28016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164592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5EE6C8"/>
                </a:solidFill>
                <a:latin typeface="DejaVu Sans"/>
              </a:rPr>
              <a:t>Read the lines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4F1FF"/>
                </a:solidFill>
                <a:latin typeface="DejaVu Sans"/>
              </a:rPr>
              <a:t>Interruptions drop week over week while blocks climb. The two lines cross in week 3.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B8AEE6"/>
                </a:solidFill>
                <a:latin typeface="DejaVu Sans"/>
              </a:rPr>
              <a:t>The cross is the moment deep work stops being a project and starts being a habit.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5486400" cy="59436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9F7AF0"/>
                </a:solidFill>
                <a:latin typeface="DejaVu Sans"/>
              </a:rPr>
              <a:t>Make It Default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F4F1FF"/>
                </a:solidFill>
                <a:latin typeface="DejaVu Sans"/>
              </a:rPr>
              <a:t>The 90-minute block goes on the calendar before the day starts. It is treated like a commitment, not a hope.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B8AEE6"/>
                </a:solidFill>
                <a:latin typeface="DejaVu Sans"/>
              </a:rPr>
              <a:t>No-meeting windows are the asset. Guard them the way you guard a flight you've paid for.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457200"/>
            <a:ext cx="5486400" cy="59436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7772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9F7AF0"/>
                </a:solidFill>
                <a:latin typeface="DejaVu Sans"/>
              </a:rPr>
              <a:t>Make It Boring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F4F1FF"/>
                </a:solidFill>
                <a:latin typeface="DejaVu Sans"/>
              </a:rPr>
              <a:t>No new apps, no new stacks, no 5 a.m. identity rebrand. Same desk, same two blocks, same audit sheet.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B8AEE6"/>
                </a:solidFill>
                <a:latin typeface="DejaVu Sans"/>
              </a:rPr>
              <a:t>Boring is the point: the system survives you changing tools, teams and projects.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47120" cy="59436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The Daily Audit, Four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69164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Blocks 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24028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Two 90s or more? Log the hours; log the output, not the input.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83464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Interruptions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38328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Count only the external ones. Internal switching is the thing you're closing down.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977639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Kill this 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526279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Name one meeting, feed or habit that leaves the calendar next week.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512064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One-line win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5669279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The single concrete thing that happened because of the block. One line, or nothing.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solidFill>
                  <a:srgbClr val="9F7AF0"/>
                </a:solidFill>
                <a:latin typeface="DejaVu Sans"/>
              </a:rPr>
              <a:t>After 30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F4F1FF"/>
                </a:solidFill>
                <a:latin typeface="DejaVu Sans"/>
              </a:rPr>
              <a:t>Two blocks a day became two blocks a day, not by willpower but by calendar.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4F1FF"/>
                </a:solidFill>
                <a:latin typeface="DejaVu Sans"/>
              </a:rPr>
              <a:t>Interruptions are lower because the block is scheduled, not because you're more disciplined.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B8AEE6"/>
                </a:solidFill>
                <a:latin typeface="DejaVu Sans"/>
              </a:rPr>
              <a:t>Deep work is not a mood. It is a schedule, a ritual, and an audit. That's the whole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deck-lab · attention economics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