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12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097280"/>
            <a:ext cx="106984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0"/>
              </a:spcAft>
            </a:pPr>
            <a:r>
              <a:rPr sz="4200" b="1">
                <a:solidFill>
                  <a:srgbClr val="F4F1FF"/>
                </a:solidFill>
                <a:latin typeface="DejaVu Sans"/>
              </a:rPr>
              <a:t>AI AGENT FRAMEWORKS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377440"/>
            <a:ext cx="106984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0"/>
              </a:spcAft>
            </a:pPr>
            <a:r>
              <a:rPr sz="2600" b="0">
                <a:solidFill>
                  <a:srgbClr val="9F7AF0"/>
                </a:solidFill>
                <a:latin typeface="DejaVu Sans"/>
              </a:rPr>
              <a:t>Choosing the right orchestration stack for LLM agents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657600"/>
            <a:ext cx="1069848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0"/>
              </a:spcAft>
            </a:pPr>
            <a:r>
              <a:rPr sz="1800" b="0">
                <a:solidFill>
                  <a:srgbClr val="B8AEE6"/>
                </a:solidFill>
                <a:latin typeface="DejaVu Sans"/>
              </a:rPr>
              <a:t>LangGraph · CrewAI · OpenAI Agents · AutoGen · LlamaIndex</a:t>
            </a:r>
          </a:p>
          <a:p>
            <a:pPr>
              <a:spcAft>
                <a:spcPts val="0"/>
              </a:spcAft>
            </a:pPr>
            <a:r>
              <a:rPr sz="1400" b="0">
                <a:solidFill>
                  <a:srgbClr val="B8AEE6"/>
                </a:solidFill>
                <a:latin typeface="DejaVu Sans"/>
              </a:rPr>
              <a:t>Field-tested comparison for production deployments, 2025 edition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5852160"/>
            <a:ext cx="10698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0"/>
              </a:spcAft>
            </a:pPr>
            <a:r>
              <a:rPr sz="1300" b="1">
                <a:solidFill>
                  <a:srgbClr val="5EE6C8"/>
                </a:solidFill>
                <a:latin typeface="DejaVu Sans"/>
              </a:rPr>
              <a:t>Manga Translator AI Studio · deck-lab exercise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12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365760"/>
            <a:ext cx="11247120" cy="6126480"/>
          </a:xfrm>
          <a:prstGeom prst="rect">
            <a:avLst/>
          </a:prstGeom>
          <a:solidFill>
            <a:srgbClr val="231F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640080"/>
            <a:ext cx="10515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0"/>
              </a:spcAft>
            </a:pPr>
            <a:r>
              <a:rPr sz="2800" b="1">
                <a:solidFill>
                  <a:srgbClr val="9F7AF0"/>
                </a:solidFill>
                <a:latin typeface="DejaVu Sans"/>
              </a:rPr>
              <a:t>Why Agent Frameworks Matter in 2025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737360"/>
            <a:ext cx="105156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700" b="0">
                <a:solidFill>
                  <a:srgbClr val="F4F1FF"/>
                </a:solidFill>
                <a:latin typeface="DejaVu Sans"/>
              </a:rPr>
              <a:t>Agentic systems are now a McKinsey-tracked category. 23% of organizations report scaling them in at least one function.</a:t>
            </a:r>
          </a:p>
          <a:p>
            <a:pPr>
              <a:spcAft>
                <a:spcPts val="600"/>
              </a:spcAft>
            </a:pPr>
            <a:r>
              <a:rPr sz="1700" b="0">
                <a:solidFill>
                  <a:srgbClr val="F4F1FF"/>
                </a:solidFill>
                <a:latin typeface="DejaVu Sans"/>
              </a:rPr>
              <a:t>A framework is not just glue code — it defines your state model, your observability contract, and your eval surface.</a:t>
            </a:r>
          </a:p>
          <a:p>
            <a:pPr>
              <a:spcAft>
                <a:spcPts val="600"/>
              </a:spcAft>
            </a:pPr>
            <a:r>
              <a:rPr sz="1700" b="0">
                <a:solidFill>
                  <a:srgbClr val="F4F1FF"/>
                </a:solidFill>
                <a:latin typeface="DejaVu Sans"/>
              </a:rPr>
              <a:t>The gap between prototype and production is measured in: token drift, tool-call reliability, and failure recovery paths.</a:t>
            </a:r>
          </a:p>
          <a:p>
            <a:pPr>
              <a:spcAft>
                <a:spcPts val="600"/>
              </a:spcAft>
            </a:pPr>
            <a:r>
              <a:rPr sz="1700" b="0">
                <a:solidFill>
                  <a:srgbClr val="F4F1FF"/>
                </a:solidFill>
                <a:latin typeface="DejaVu Sans"/>
              </a:rPr>
              <a:t>Choosing for today's use case — not GitHub stars — is the practical rule.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12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20040"/>
            <a:ext cx="112471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0"/>
              </a:spcAft>
            </a:pPr>
            <a:r>
              <a:rPr sz="2800" b="1">
                <a:solidFill>
                  <a:srgbClr val="9F7AF0"/>
                </a:solidFill>
                <a:latin typeface="DejaVu Sans"/>
              </a:rPr>
              <a:t>The Five That Actually Ship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188720"/>
            <a:ext cx="2148840" cy="5029200"/>
          </a:xfrm>
          <a:prstGeom prst="rect">
            <a:avLst/>
          </a:prstGeom>
          <a:solidFill>
            <a:srgbClr val="231F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94360" y="1371600"/>
            <a:ext cx="1874519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0"/>
              </a:spcAft>
            </a:pPr>
            <a:r>
              <a:rPr sz="1500" b="1">
                <a:solidFill>
                  <a:srgbClr val="5EE6C8"/>
                </a:solidFill>
                <a:latin typeface="DejaVu Sans"/>
              </a:rPr>
              <a:t>LangGraph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2286000"/>
            <a:ext cx="1874519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300" b="0">
                <a:solidFill>
                  <a:srgbClr val="B8AEE6"/>
                </a:solidFill>
                <a:latin typeface="DejaVu Sans"/>
              </a:rPr>
              <a:t>State-graph runtime. Explicit state machine, branching, recovery paths.</a:t>
            </a:r>
          </a:p>
        </p:txBody>
      </p:sp>
      <p:sp>
        <p:nvSpPr>
          <p:cNvPr id="7" name="Rectangle 6"/>
          <p:cNvSpPr/>
          <p:nvPr/>
        </p:nvSpPr>
        <p:spPr>
          <a:xfrm>
            <a:off x="2788920" y="1188720"/>
            <a:ext cx="2148840" cy="5029200"/>
          </a:xfrm>
          <a:prstGeom prst="rect">
            <a:avLst/>
          </a:prstGeom>
          <a:solidFill>
            <a:srgbClr val="231F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926079" y="1371600"/>
            <a:ext cx="1874519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0"/>
              </a:spcAft>
            </a:pPr>
            <a:r>
              <a:rPr sz="1500" b="1">
                <a:solidFill>
                  <a:srgbClr val="5EE6C8"/>
                </a:solidFill>
                <a:latin typeface="DejaVu Sans"/>
              </a:rPr>
              <a:t>CrewAI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926079" y="2286000"/>
            <a:ext cx="1874519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300" b="0">
                <a:solidFill>
                  <a:srgbClr val="B8AEE6"/>
                </a:solidFill>
                <a:latin typeface="DejaVu Sans"/>
              </a:rPr>
              <a:t>Role-based multi-agent crews. Async coordination, human-in-the-loop.</a:t>
            </a:r>
          </a:p>
        </p:txBody>
      </p:sp>
      <p:sp>
        <p:nvSpPr>
          <p:cNvPr id="10" name="Rectangle 9"/>
          <p:cNvSpPr/>
          <p:nvPr/>
        </p:nvSpPr>
        <p:spPr>
          <a:xfrm>
            <a:off x="5120640" y="1188720"/>
            <a:ext cx="2148840" cy="5029200"/>
          </a:xfrm>
          <a:prstGeom prst="rect">
            <a:avLst/>
          </a:prstGeom>
          <a:solidFill>
            <a:srgbClr val="231F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257800" y="1371600"/>
            <a:ext cx="1874519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0"/>
              </a:spcAft>
            </a:pPr>
            <a:r>
              <a:rPr sz="1500" b="1">
                <a:solidFill>
                  <a:srgbClr val="5EE6C8"/>
                </a:solidFill>
                <a:latin typeface="DejaVu Sans"/>
              </a:rPr>
              <a:t>OpenAI Agents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257800" y="2286000"/>
            <a:ext cx="1874519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300" b="0">
                <a:solidFill>
                  <a:srgbClr val="B8AEE6"/>
                </a:solidFill>
                <a:latin typeface="DejaVu Sans"/>
              </a:rPr>
              <a:t>First-party managed runtime. Handoffs, native tool calling.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452359" y="1188720"/>
            <a:ext cx="2148840" cy="5029200"/>
          </a:xfrm>
          <a:prstGeom prst="rect">
            <a:avLst/>
          </a:prstGeom>
          <a:solidFill>
            <a:srgbClr val="231F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589519" y="1371600"/>
            <a:ext cx="1874519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0"/>
              </a:spcAft>
            </a:pPr>
            <a:r>
              <a:rPr sz="1500" b="1">
                <a:solidFill>
                  <a:srgbClr val="5EE6C8"/>
                </a:solidFill>
                <a:latin typeface="DejaVu Sans"/>
              </a:rPr>
              <a:t>AutoGen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589519" y="2286000"/>
            <a:ext cx="1874519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300" b="0">
                <a:solidFill>
                  <a:srgbClr val="B8AEE6"/>
                </a:solidFill>
                <a:latin typeface="DejaVu Sans"/>
              </a:rPr>
              <a:t>Microsoft's conversational agent groups. Agent-as-tool pattern.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9784080" y="1188720"/>
            <a:ext cx="2148840" cy="5029200"/>
          </a:xfrm>
          <a:prstGeom prst="rect">
            <a:avLst/>
          </a:prstGeom>
          <a:solidFill>
            <a:srgbClr val="231F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921240" y="1371600"/>
            <a:ext cx="1874519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0"/>
              </a:spcAft>
            </a:pPr>
            <a:r>
              <a:rPr sz="1500" b="1">
                <a:solidFill>
                  <a:srgbClr val="5EE6C8"/>
                </a:solidFill>
                <a:latin typeface="DejaVu Sans"/>
              </a:rPr>
              <a:t>LlamaIndex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921240" y="2286000"/>
            <a:ext cx="1874519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300" b="0">
                <a:solidFill>
                  <a:srgbClr val="B8AEE6"/>
                </a:solidFill>
                <a:latin typeface="DejaVu Sans"/>
              </a:rPr>
              <a:t>RAG-first agent layer over enterprise data.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12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365760"/>
            <a:ext cx="11247120" cy="6126480"/>
          </a:xfrm>
          <a:prstGeom prst="rect">
            <a:avLst/>
          </a:prstGeom>
          <a:solidFill>
            <a:srgbClr val="231F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640080"/>
            <a:ext cx="10515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0"/>
              </a:spcAft>
            </a:pPr>
            <a:r>
              <a:rPr sz="2600" b="1">
                <a:solidFill>
                  <a:srgbClr val="9F7AF0"/>
                </a:solidFill>
                <a:latin typeface="DejaVu Sans"/>
              </a:rPr>
              <a:t>LangGraph: The State Machine Model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737360"/>
            <a:ext cx="50292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 b="1">
                <a:solidFill>
                  <a:srgbClr val="5EE6C8"/>
                </a:solidFill>
                <a:latin typeface="DejaVu Sans"/>
              </a:rPr>
              <a:t>What it is</a:t>
            </a:r>
          </a:p>
          <a:p>
            <a:pPr>
              <a:spcAft>
                <a:spcPts val="600"/>
              </a:spcAft>
            </a:pPr>
            <a:r>
              <a:rPr sz="1500" b="0">
                <a:solidFill>
                  <a:srgbClr val="F4F1FF"/>
                </a:solidFill>
                <a:latin typeface="DejaVu Sans"/>
              </a:rPr>
              <a:t>A declarative graph. Each node is a function; edges define control flow. State is shared, versioned, and serializable between nodes.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217920" y="1737360"/>
            <a:ext cx="50292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 b="1">
                <a:solidFill>
                  <a:srgbClr val="5EE6C8"/>
                </a:solidFill>
                <a:latin typeface="DejaVu Sans"/>
              </a:rPr>
              <a:t>Why teams pick it</a:t>
            </a:r>
          </a:p>
          <a:p>
            <a:pPr>
              <a:spcAft>
                <a:spcPts val="600"/>
              </a:spcAft>
            </a:pPr>
            <a:r>
              <a:rPr sz="1500" b="0">
                <a:solidFill>
                  <a:srgbClr val="F4F1FF"/>
                </a:solidFill>
                <a:latin typeface="DejaVu Sans"/>
              </a:rPr>
              <a:t>Traceable execution. Branching and recovery paths are explicit. Pairs cleanly with an observability layer that captures per-node spans and token costs.</a:t>
            </a:r>
          </a:p>
          <a:p>
            <a:pPr>
              <a:spcAft>
                <a:spcPts val="600"/>
              </a:spcAft>
            </a:pPr>
            <a:r>
              <a:rPr sz="1500" b="1">
                <a:solidFill>
                  <a:srgbClr val="5EE6C8"/>
                </a:solidFill>
                <a:latin typeface="DejaVu Sans"/>
              </a:rPr>
              <a:t>Watch out</a:t>
            </a:r>
          </a:p>
          <a:p>
            <a:pPr>
              <a:spcAft>
                <a:spcPts val="600"/>
              </a:spcAft>
            </a:pPr>
            <a:r>
              <a:rPr sz="1500" b="0">
                <a:solidFill>
                  <a:srgbClr val="B8AEE6"/>
                </a:solidFill>
                <a:latin typeface="DejaVu Sans"/>
              </a:rPr>
              <a:t>State management is explicit but not automatic — you own the schema. Add a dedicated eval harness for each node's output quality.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12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20040"/>
            <a:ext cx="112471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0"/>
              </a:spcAft>
            </a:pPr>
            <a:r>
              <a:rPr sz="2600" b="1">
                <a:solidFill>
                  <a:srgbClr val="9F7AF0"/>
                </a:solidFill>
                <a:latin typeface="DejaVu Sans"/>
              </a:rPr>
              <a:t>Multi-Agent: Two Philosophies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188720"/>
            <a:ext cx="5486400" cy="5029200"/>
          </a:xfrm>
          <a:prstGeom prst="rect">
            <a:avLst/>
          </a:prstGeom>
          <a:solidFill>
            <a:srgbClr val="231F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371600"/>
            <a:ext cx="49377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0"/>
              </a:spcAft>
            </a:pPr>
            <a:r>
              <a:rPr sz="2000" b="1">
                <a:solidFill>
                  <a:srgbClr val="5EE6C8"/>
                </a:solidFill>
                <a:latin typeface="DejaVu Sans"/>
              </a:rPr>
              <a:t>CrewAI — Role-Based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194560"/>
            <a:ext cx="493776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 b="0">
                <a:solidFill>
                  <a:srgbClr val="F4F1FF"/>
                </a:solidFill>
                <a:latin typeface="DejaVu Sans"/>
              </a:rPr>
              <a:t>Agents are people. Each has a role, a goal, and a backstory. Crews work asynchronously or in rounds.</a:t>
            </a:r>
          </a:p>
          <a:p>
            <a:pPr>
              <a:spcAft>
                <a:spcPts val="600"/>
              </a:spcAft>
            </a:pPr>
            <a:r>
              <a:rPr sz="1500" b="0">
                <a:solidFill>
                  <a:srgbClr val="B8AEE6"/>
                </a:solidFill>
                <a:latin typeface="DejaVu Sans"/>
              </a:rPr>
              <a:t>Best for creative and research workflows where diverse perspectives matter.</a:t>
            </a:r>
          </a:p>
          <a:p>
            <a:pPr>
              <a:spcAft>
                <a:spcPts val="600"/>
              </a:spcAft>
            </a:pPr>
            <a:r>
              <a:rPr sz="1500" b="0">
                <a:solidFill>
                  <a:srgbClr val="B8AEE6"/>
                </a:solidFill>
                <a:latin typeface="DejaVu Sans"/>
              </a:rPr>
              <a:t>Coordination overhead is managed for you; SOPs and domain policies plug in as role definitions.</a:t>
            </a:r>
          </a:p>
        </p:txBody>
      </p:sp>
      <p:sp>
        <p:nvSpPr>
          <p:cNvPr id="7" name="Rectangle 6"/>
          <p:cNvSpPr/>
          <p:nvPr/>
        </p:nvSpPr>
        <p:spPr>
          <a:xfrm>
            <a:off x="6217920" y="1188720"/>
            <a:ext cx="5486400" cy="5029200"/>
          </a:xfrm>
          <a:prstGeom prst="rect">
            <a:avLst/>
          </a:prstGeom>
          <a:solidFill>
            <a:srgbClr val="231F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92240" y="1371600"/>
            <a:ext cx="49377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0"/>
              </a:spcAft>
            </a:pPr>
            <a:r>
              <a:rPr sz="2000" b="1">
                <a:solidFill>
                  <a:srgbClr val="5EE6C8"/>
                </a:solidFill>
                <a:latin typeface="DejaVu Sans"/>
              </a:rPr>
              <a:t>AutoGen — Conversational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92240" y="2194560"/>
            <a:ext cx="493776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 b="0">
                <a:solidFill>
                  <a:srgbClr val="F4F1FF"/>
                </a:solidFill>
                <a:latin typeface="DejaVu Sans"/>
              </a:rPr>
              <a:t>Agents are speakers. They coordinate by talking. Each turn can hand control to another agent or to a tool.</a:t>
            </a:r>
          </a:p>
          <a:p>
            <a:pPr>
              <a:spcAft>
                <a:spcPts val="600"/>
              </a:spcAft>
            </a:pPr>
            <a:r>
              <a:rPr sz="1500" b="0">
                <a:solidFill>
                  <a:srgbClr val="B8AEE6"/>
                </a:solidFill>
                <a:latin typeface="DejaVu Sans"/>
              </a:rPr>
              <a:t>Best for multi-turn reasoning chains and agent-as-tool delegation.</a:t>
            </a:r>
          </a:p>
          <a:p>
            <a:pPr>
              <a:spcAft>
                <a:spcPts val="600"/>
              </a:spcAft>
            </a:pPr>
            <a:r>
              <a:rPr sz="1500" b="0">
                <a:solidFill>
                  <a:srgbClr val="B8AEE6"/>
                </a:solidFill>
                <a:latin typeface="DejaVu Sans"/>
              </a:rPr>
              <a:t>The conversation transcript is your trace — great for debugging, harder to constrain.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12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365760"/>
            <a:ext cx="11247120" cy="6309360"/>
          </a:xfrm>
          <a:prstGeom prst="rect">
            <a:avLst/>
          </a:prstGeom>
          <a:solidFill>
            <a:srgbClr val="231F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640080"/>
            <a:ext cx="10515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0"/>
              </a:spcAft>
            </a:pPr>
            <a:r>
              <a:rPr sz="2600" b="1">
                <a:solidFill>
                  <a:srgbClr val="9F7AF0"/>
                </a:solidFill>
                <a:latin typeface="DejaVu Sans"/>
              </a:rPr>
              <a:t>Production Readiness Checklist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600200"/>
            <a:ext cx="10972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0"/>
              </a:spcAft>
            </a:pPr>
            <a:r>
              <a:rPr sz="2200" b="1">
                <a:solidFill>
                  <a:srgbClr val="9F7AF0"/>
                </a:solidFill>
                <a:latin typeface="DejaVu Sans"/>
              </a:rPr>
              <a:t>01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103120" y="1600200"/>
            <a:ext cx="9144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0"/>
              </a:spcAft>
            </a:pPr>
            <a:r>
              <a:rPr sz="1600" b="1">
                <a:solidFill>
                  <a:srgbClr val="F4F1FF"/>
                </a:solidFill>
                <a:latin typeface="DejaVu Sans"/>
              </a:rPr>
              <a:t>Instrument every node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103120" y="2103120"/>
            <a:ext cx="9144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0"/>
              </a:spcAft>
            </a:pPr>
            <a:r>
              <a:rPr sz="1300" b="0">
                <a:solidFill>
                  <a:srgbClr val="B8AEE6"/>
                </a:solidFill>
                <a:latin typeface="DejaVu Sans"/>
              </a:rPr>
              <a:t>Per-step retrieval diagnostics, token usage, tool-call latency visible in traces.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2560320"/>
            <a:ext cx="10972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0"/>
              </a:spcAft>
            </a:pPr>
            <a:r>
              <a:rPr sz="2200" b="1">
                <a:solidFill>
                  <a:srgbClr val="9F7AF0"/>
                </a:solidFill>
                <a:latin typeface="DejaVu Sans"/>
              </a:rPr>
              <a:t>02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103120" y="2560320"/>
            <a:ext cx="9144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0"/>
              </a:spcAft>
            </a:pPr>
            <a:r>
              <a:rPr sz="1600" b="1">
                <a:solidFill>
                  <a:srgbClr val="F4F1FF"/>
                </a:solidFill>
                <a:latin typeface="DejaVu Sans"/>
              </a:rPr>
              <a:t>Run scheduled evals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103120" y="3063239"/>
            <a:ext cx="9144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0"/>
              </a:spcAft>
            </a:pPr>
            <a:r>
              <a:rPr sz="1300" b="0">
                <a:solidFill>
                  <a:srgbClr val="B8AEE6"/>
                </a:solidFill>
                <a:latin typeface="DejaVu Sans"/>
              </a:rPr>
              <a:t>Compare evaluation runs across versions before promotion; keep regression datasets warm.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3520439"/>
            <a:ext cx="10972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0"/>
              </a:spcAft>
            </a:pPr>
            <a:r>
              <a:rPr sz="2200" b="1">
                <a:solidFill>
                  <a:srgbClr val="9F7AF0"/>
                </a:solidFill>
                <a:latin typeface="DejaVu Sans"/>
              </a:rPr>
              <a:t>03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103120" y="3520439"/>
            <a:ext cx="9144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0"/>
              </a:spcAft>
            </a:pPr>
            <a:r>
              <a:rPr sz="1600" b="1">
                <a:solidFill>
                  <a:srgbClr val="F4F1FF"/>
                </a:solidFill>
                <a:latin typeface="DejaVu Sans"/>
              </a:rPr>
              <a:t>Stress-test edge cases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103120" y="4023359"/>
            <a:ext cx="9144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0"/>
              </a:spcAft>
            </a:pPr>
            <a:r>
              <a:rPr sz="1300" b="0">
                <a:solidFill>
                  <a:srgbClr val="B8AEE6"/>
                </a:solidFill>
                <a:latin typeface="DejaVu Sans"/>
              </a:rPr>
              <a:t>Simulated adversarial users and failure-recovery paths on every release.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2960" y="4480559"/>
            <a:ext cx="10972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0"/>
              </a:spcAft>
            </a:pPr>
            <a:r>
              <a:rPr sz="2200" b="1">
                <a:solidFill>
                  <a:srgbClr val="9F7AF0"/>
                </a:solidFill>
                <a:latin typeface="DejaVu Sans"/>
              </a:rPr>
              <a:t>04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103120" y="4480559"/>
            <a:ext cx="9144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0"/>
              </a:spcAft>
            </a:pPr>
            <a:r>
              <a:rPr sz="1600" b="1">
                <a:solidFill>
                  <a:srgbClr val="F4F1FF"/>
                </a:solidFill>
                <a:latin typeface="DejaVu Sans"/>
              </a:rPr>
              <a:t>Close the data loop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103120" y="4983479"/>
            <a:ext cx="9144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0"/>
              </a:spcAft>
            </a:pPr>
            <a:r>
              <a:rPr sz="1300" b="0">
                <a:solidFill>
                  <a:srgbClr val="B8AEE6"/>
                </a:solidFill>
                <a:latin typeface="DejaVu Sans"/>
              </a:rPr>
              <a:t>Promote tricky production examples into datasets; track version-over-version quality.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2960" y="5440679"/>
            <a:ext cx="10972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0"/>
              </a:spcAft>
            </a:pPr>
            <a:r>
              <a:rPr sz="2200" b="1">
                <a:solidFill>
                  <a:srgbClr val="9F7AF0"/>
                </a:solidFill>
                <a:latin typeface="DejaVu Sans"/>
              </a:rPr>
              <a:t>05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103120" y="5440679"/>
            <a:ext cx="9144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0"/>
              </a:spcAft>
            </a:pPr>
            <a:r>
              <a:rPr sz="1600" b="1">
                <a:solidFill>
                  <a:srgbClr val="F4F1FF"/>
                </a:solidFill>
                <a:latin typeface="DejaVu Sans"/>
              </a:rPr>
              <a:t>Plan for regulated environments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103120" y="5943599"/>
            <a:ext cx="9144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0"/>
              </a:spcAft>
            </a:pPr>
            <a:r>
              <a:rPr sz="1300" b="0">
                <a:solidFill>
                  <a:srgbClr val="B8AEE6"/>
                </a:solidFill>
                <a:latin typeface="DejaVu Sans"/>
              </a:rPr>
              <a:t>In-VPC deployment, RBAC, SSO, SOC 2 Type 2 — enterprise prerequisites.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12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20040"/>
            <a:ext cx="112471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0"/>
              </a:spcAft>
            </a:pPr>
            <a:r>
              <a:rPr sz="2600" b="1">
                <a:solidFill>
                  <a:srgbClr val="9F7AF0"/>
                </a:solidFill>
                <a:latin typeface="DejaVu Sans"/>
              </a:rPr>
              <a:t>Which One for Your Use Case?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280160"/>
            <a:ext cx="11247120" cy="777240"/>
          </a:xfrm>
          <a:prstGeom prst="rect">
            <a:avLst/>
          </a:prstGeom>
          <a:solidFill>
            <a:srgbClr val="231F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371600"/>
            <a:ext cx="3657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0"/>
              </a:spcAft>
            </a:pPr>
            <a:r>
              <a:rPr sz="1400" b="1">
                <a:solidFill>
                  <a:srgbClr val="F4F1FF"/>
                </a:solidFill>
                <a:latin typeface="DejaVu Sans"/>
              </a:rPr>
              <a:t>Customer support, policy checks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0" y="1371600"/>
            <a:ext cx="3200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0"/>
              </a:spcAft>
            </a:pPr>
            <a:r>
              <a:rPr sz="1400" b="1">
                <a:solidFill>
                  <a:srgbClr val="5EE6C8"/>
                </a:solidFill>
                <a:latin typeface="DejaVu Sans"/>
              </a:rPr>
              <a:t>LangGraph or OpenAI Agents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955279" y="1371600"/>
            <a:ext cx="3657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0"/>
              </a:spcAft>
            </a:pPr>
            <a:r>
              <a:rPr sz="1300" b="0">
                <a:solidFill>
                  <a:srgbClr val="B8AEE6"/>
                </a:solidFill>
                <a:latin typeface="DejaVu Sans"/>
              </a:rPr>
              <a:t>Explicit branching + handoff patterns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2148839"/>
            <a:ext cx="11247120" cy="777240"/>
          </a:xfrm>
          <a:prstGeom prst="rect">
            <a:avLst/>
          </a:prstGeom>
          <a:solidFill>
            <a:srgbClr val="231F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2240279"/>
            <a:ext cx="3657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0"/>
              </a:spcAft>
            </a:pPr>
            <a:r>
              <a:rPr sz="1400" b="1">
                <a:solidFill>
                  <a:srgbClr val="F4F1FF"/>
                </a:solidFill>
                <a:latin typeface="DejaVu Sans"/>
              </a:rPr>
              <a:t>Research pipelines, branching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0" y="2240279"/>
            <a:ext cx="3200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0"/>
              </a:spcAft>
            </a:pPr>
            <a:r>
              <a:rPr sz="1400" b="1">
                <a:solidFill>
                  <a:srgbClr val="5EE6C8"/>
                </a:solidFill>
                <a:latin typeface="DejaVu Sans"/>
              </a:rPr>
              <a:t>LangGraph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955279" y="2240279"/>
            <a:ext cx="3657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0"/>
              </a:spcAft>
            </a:pPr>
            <a:r>
              <a:rPr sz="1300" b="0">
                <a:solidFill>
                  <a:srgbClr val="B8AEE6"/>
                </a:solidFill>
                <a:latin typeface="DejaVu Sans"/>
              </a:rPr>
              <a:t>Conditional routing over intermediate scores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57200" y="3017520"/>
            <a:ext cx="11247120" cy="777240"/>
          </a:xfrm>
          <a:prstGeom prst="rect">
            <a:avLst/>
          </a:prstGeom>
          <a:solidFill>
            <a:srgbClr val="231F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31520" y="3108960"/>
            <a:ext cx="3657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0"/>
              </a:spcAft>
            </a:pPr>
            <a:r>
              <a:rPr sz="1400" b="1">
                <a:solidFill>
                  <a:srgbClr val="F4F1FF"/>
                </a:solidFill>
                <a:latin typeface="DejaVu Sans"/>
              </a:rPr>
              <a:t>Creative content workflows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3108960"/>
            <a:ext cx="3200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0"/>
              </a:spcAft>
            </a:pPr>
            <a:r>
              <a:rPr sz="1400" b="1">
                <a:solidFill>
                  <a:srgbClr val="5EE6C8"/>
                </a:solidFill>
                <a:latin typeface="DejaVu Sans"/>
              </a:rPr>
              <a:t>CrewAI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955279" y="3108960"/>
            <a:ext cx="3657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0"/>
              </a:spcAft>
            </a:pPr>
            <a:r>
              <a:rPr sz="1300" b="0">
                <a:solidFill>
                  <a:srgbClr val="B8AEE6"/>
                </a:solidFill>
                <a:latin typeface="DejaVu Sans"/>
              </a:rPr>
              <a:t>Diverse agent perspectives in rounds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57200" y="3886200"/>
            <a:ext cx="11247120" cy="777240"/>
          </a:xfrm>
          <a:prstGeom prst="rect">
            <a:avLst/>
          </a:prstGeom>
          <a:solidFill>
            <a:srgbClr val="231F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31520" y="3977639"/>
            <a:ext cx="3657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0"/>
              </a:spcAft>
            </a:pPr>
            <a:r>
              <a:rPr sz="1400" b="1">
                <a:solidFill>
                  <a:srgbClr val="F4F1FF"/>
                </a:solidFill>
                <a:latin typeface="DejaVu Sans"/>
              </a:rPr>
              <a:t>RAG over enterprise data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0" y="3977639"/>
            <a:ext cx="3200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0"/>
              </a:spcAft>
            </a:pPr>
            <a:r>
              <a:rPr sz="1400" b="1">
                <a:solidFill>
                  <a:srgbClr val="5EE6C8"/>
                </a:solidFill>
                <a:latin typeface="DejaVu Sans"/>
              </a:rPr>
              <a:t>LlamaIndex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955279" y="3977639"/>
            <a:ext cx="3657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0"/>
              </a:spcAft>
            </a:pPr>
            <a:r>
              <a:rPr sz="1300" b="0">
                <a:solidFill>
                  <a:srgbClr val="B8AEE6"/>
                </a:solidFill>
                <a:latin typeface="DejaVu Sans"/>
              </a:rPr>
              <a:t>Retrieval-first agent capabilities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57200" y="4754880"/>
            <a:ext cx="11247120" cy="777240"/>
          </a:xfrm>
          <a:prstGeom prst="rect">
            <a:avLst/>
          </a:prstGeom>
          <a:solidFill>
            <a:srgbClr val="231F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31520" y="4846320"/>
            <a:ext cx="3657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0"/>
              </a:spcAft>
            </a:pPr>
            <a:r>
              <a:rPr sz="1400" b="1">
                <a:solidFill>
                  <a:srgbClr val="F4F1FF"/>
                </a:solidFill>
                <a:latin typeface="DejaVu Sans"/>
              </a:rPr>
              <a:t>Multi-turn dialogue chains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72000" y="4846320"/>
            <a:ext cx="3200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0"/>
              </a:spcAft>
            </a:pPr>
            <a:r>
              <a:rPr sz="1400" b="1">
                <a:solidFill>
                  <a:srgbClr val="5EE6C8"/>
                </a:solidFill>
                <a:latin typeface="DejaVu Sans"/>
              </a:rPr>
              <a:t>AutoGen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955279" y="4846320"/>
            <a:ext cx="3657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0"/>
              </a:spcAft>
            </a:pPr>
            <a:r>
              <a:rPr sz="1300" b="0">
                <a:solidFill>
                  <a:srgbClr val="B8AEE6"/>
                </a:solidFill>
                <a:latin typeface="DejaVu Sans"/>
              </a:rPr>
              <a:t>Conversational handoff, agent-as-tool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57200" y="5623560"/>
            <a:ext cx="11247120" cy="777240"/>
          </a:xfrm>
          <a:prstGeom prst="rect">
            <a:avLst/>
          </a:prstGeom>
          <a:solidFill>
            <a:srgbClr val="231F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31520" y="5715000"/>
            <a:ext cx="3657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0"/>
              </a:spcAft>
            </a:pPr>
            <a:r>
              <a:rPr sz="1400" b="1">
                <a:solidFill>
                  <a:srgbClr val="F4F1FF"/>
                </a:solidFill>
                <a:latin typeface="DejaVu Sans"/>
              </a:rPr>
              <a:t>Rapid prototyping, learning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572000" y="5715000"/>
            <a:ext cx="3200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0"/>
              </a:spcAft>
            </a:pPr>
            <a:r>
              <a:rPr sz="1400" b="1">
                <a:solidFill>
                  <a:srgbClr val="5EE6C8"/>
                </a:solidFill>
                <a:latin typeface="DejaVu Sans"/>
              </a:rPr>
              <a:t>OpenAI Swarm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955279" y="5715000"/>
            <a:ext cx="3657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0"/>
              </a:spcAft>
            </a:pPr>
            <a:r>
              <a:rPr sz="1300" b="0">
                <a:solidFill>
                  <a:srgbClr val="B8AEE6"/>
                </a:solidFill>
                <a:latin typeface="DejaVu Sans"/>
              </a:rPr>
              <a:t>Read in an afternoon; limited for production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12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371600"/>
            <a:ext cx="106984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0"/>
              </a:spcAft>
            </a:pPr>
            <a:r>
              <a:rPr sz="3200" b="1">
                <a:solidFill>
                  <a:srgbClr val="9F7AF0"/>
                </a:solidFill>
                <a:latin typeface="DejaVu Sans"/>
              </a:rPr>
              <a:t>The Bottom Line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468880"/>
            <a:ext cx="1069848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2200" b="1">
                <a:solidFill>
                  <a:srgbClr val="F4F1FF"/>
                </a:solidFill>
                <a:latin typeface="DejaVu Sans"/>
              </a:rPr>
              <a:t>No framework is universally best.</a:t>
            </a:r>
          </a:p>
          <a:p>
            <a:pPr>
              <a:spcAft>
                <a:spcPts val="600"/>
              </a:spcAft>
            </a:pPr>
            <a:r>
              <a:rPr sz="1800" b="0">
                <a:solidFill>
                  <a:srgbClr val="F4F1FF"/>
                </a:solidFill>
                <a:latin typeface="DejaVu Sans"/>
              </a:rPr>
              <a:t>The right one is the one your team can deploy, maintain, and scale — not the one with the most stars.</a:t>
            </a:r>
          </a:p>
          <a:p>
            <a:pPr>
              <a:spcAft>
                <a:spcPts val="600"/>
              </a:spcAft>
            </a:pPr>
            <a:r>
              <a:rPr sz="1800" b="0">
                <a:solidFill>
                  <a:srgbClr val="F4F1FF"/>
                </a:solidFill>
                <a:latin typeface="DejaVu Sans"/>
              </a:rPr>
              <a:t>Instrument from day one. Evals and observability are not an afterthought.</a:t>
            </a:r>
          </a:p>
          <a:p>
            <a:pPr>
              <a:spcAft>
                <a:spcPts val="600"/>
              </a:spcAft>
            </a:pPr>
            <a:r>
              <a:rPr sz="1800" b="0">
                <a:solidFill>
                  <a:srgbClr val="B8AEE6"/>
                </a:solidFill>
                <a:latin typeface="DejaVu Sans"/>
              </a:rPr>
              <a:t>What matters six months from now is whether you can ship without rewriting.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5669280"/>
            <a:ext cx="10698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0"/>
              </a:spcAft>
            </a:pPr>
            <a:r>
              <a:rPr sz="1300" b="1">
                <a:solidFill>
                  <a:srgbClr val="5EE6C8"/>
                </a:solidFill>
                <a:latin typeface="DejaVu Sans"/>
              </a:rPr>
              <a:t>Sources: Maxim, LangWatch, McKinsey State of AI 2025, framework docs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