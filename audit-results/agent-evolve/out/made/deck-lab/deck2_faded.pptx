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D9FFF"/>
                </a:solidFill>
                <a:latin typeface="Segoe UI"/>
              </a:rPr>
              <a:t>DECK-LAB DARK-THEME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E8EDF5"/>
                </a:solidFill>
                <a:latin typeface="Segoe UI"/>
              </a:rPr>
              <a:t>The Physics of 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A8B4C8"/>
                </a:solidFill>
                <a:latin typeface="Segoe UI"/>
              </a:rPr>
              <a:t>Six variables — grind, pressure, temperature, dose, yield, time — that turn
roasted beans into a cup, and which one to change when the taste is off.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Nine ingredients, one pressure pump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0116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8B4C8"/>
                </a:solidFill>
                <a:latin typeface="Segoe UI"/>
              </a:rPr>
              <a:t>98–99 °C, low-TDS mineral water. Hotter scorch the cup; cooler under-extracts.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0116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Beans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8B4C8"/>
                </a:solidFill>
                <a:latin typeface="Segoe UI"/>
              </a:rPr>
              <a:t>Roasted 7–28 days, 18 g in the basket, ground fine and even.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0116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Steam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8B4C8"/>
                </a:solidFill>
                <a:latin typeface="Segoe UI"/>
              </a:rPr>
              <a:t>Crema is CO₂ and oil emulsified at 9 bar over ~25 s.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1 —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9 bar is a target, not a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A8B4C8"/>
                </a:solidFill>
                <a:latin typeface="Segoe UI"/>
              </a:rPr>
              <a:t>Static pressure in the group head does not equal pressure at the bed.
Back-pressure from tamping and grind makes the real 3–4 bar on the coffee.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359810" cy="21945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DF5"/>
                </a:solidFill>
                <a:latin typeface="Segoe UI"/>
              </a:rPr>
              <a:t>Under 8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Channeling: water finds the path of least resistance, extraction uneven.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2651760"/>
            <a:ext cx="3359810" cy="21945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8803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DF5"/>
                </a:solidFill>
                <a:latin typeface="Segoe UI"/>
              </a:rPr>
              <a:t>9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3832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Standard machine rating; paired with 25 s, the sweet spot for most recipes.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4916" y="2651760"/>
            <a:ext cx="3359810" cy="21945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8803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DF5"/>
                </a:solidFill>
                <a:latin typeface="Segoe UI"/>
              </a:rPr>
              <a:t>Over 11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3832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Forces through fines and tannins; cup reads bitter and dry.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2 — GRIND AND TAMPING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The most sensitive pair on the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Start: one click coarser per day; a visibly coarse powder, not dust.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Tamp flat and even — 10–15 kg of force is enough; unevenness extracts unevenly.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Consistency beats absolute force: a wobble reads as bitterness.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737360"/>
            <a:ext cx="5605272" cy="3840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E8EDF5"/>
                </a:solidFill>
                <a:latin typeface="Segoe UI"/>
              </a:rPr>
              <a:t>FIELD TEST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E8EDF5"/>
                </a:solidFill>
                <a:latin typeface="Segoe UI"/>
              </a:rPr>
              <a:t>Pull twice at the same dose. Faster shot → grind coarser.
Slower, weak shot → grind finer.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E8EDF5"/>
                </a:solidFill>
                <a:latin typeface="Segoe UI"/>
              </a:rPr>
              <a:t>One variable at a time; log grind, dose, yield and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7200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D9FFF"/>
                </a:solidFill>
                <a:latin typeface="Segoe UI"/>
              </a:rPr>
              <a:t>Bold line in blue:</a:t>
            </a:r>
            <a:r>
              <a:rPr sz="1400" b="0">
                <a:solidFill>
                  <a:srgbClr val="E8EDF5"/>
                </a:solidFill>
                <a:latin typeface="Segoe UI"/>
              </a:rPr>
              <a:t> use accent for the one line that matters.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3 — HEAT AND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99 °C is a ceiling, not a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74720" cy="1554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4D9FFF"/>
                </a:solidFill>
                <a:latin typeface="Segoe UI"/>
              </a:rPr>
              <a:t>93–96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°C pour-in for modern recipes (brighter coffees like the heat)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474720" cy="1554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4D9FFF"/>
                </a:solidFill>
                <a:latin typeface="Segoe UI"/>
              </a:rPr>
              <a:t>25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extraction window at 9 bar; outside it the cup goes sour or bitter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737360"/>
            <a:ext cx="3474720" cy="1554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4D9FFF"/>
                </a:solidFill>
                <a:latin typeface="Segoe UI"/>
              </a:rPr>
              <a:t>38–50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48716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g/L TDS water; hard water scales the boiler, soft water tastes flat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Extraction runs ~18–22% of the dry mass at the pour-in target; temperature sets the
rate of the two. Change it and every other variable — grind, dose, time — shifts with it.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4 — DOSE, YIELD,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The 1:2 recipe is a 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28600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18 g in / 36 g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Standard 1:2 espresso: 18 g of dry coffee, ~36 g of liquid, medium body.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28600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25 s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First 10 s run light (sour if it stays light); last 10 s bring the sugar.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28600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Front /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Taste both: front under-extracted, over-extracted tail reads bitter.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Scale-first: </a:t>
            </a:r>
            <a:r>
              <a:rPr sz="1500" b="0">
                <a:solidFill>
                  <a:srgbClr val="E8EDF5"/>
                </a:solidFill>
                <a:latin typeface="Segoe UI"/>
              </a:rPr>
              <a:t>weigh the cup at 10 s and 25 s; a flat curve means the grind stopped letting water through.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Change one thing, taste, log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4415" cy="8229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02536"/>
            <a:ext cx="384048" cy="384048"/>
          </a:xfrm>
          <a:prstGeom prst="round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1420"/>
                </a:solidFill>
                <a:latin typeface="Segoe U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082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Grind and tamping are 80% of the fight — fix those before touching temperature.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1094415" cy="8229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62656"/>
            <a:ext cx="384048" cy="384048"/>
          </a:xfrm>
          <a:prstGeom prst="round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1420"/>
                </a:solidFill>
                <a:latin typeface="Segoe U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809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Log dose, yield and time every pull; the log is the experiment.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094415" cy="8229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22776"/>
            <a:ext cx="384048" cy="384048"/>
          </a:xfrm>
          <a:prstGeom prst="round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93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1420"/>
                </a:solidFill>
                <a:latin typeface="Segoe U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410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A lighter roast wants a cooler pour-in and a finer grind; dark roasts the reverse.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4D9FFF"/>
                </a:solidFill>
                <a:latin typeface="Segoe UI"/>
              </a:rPr>
              <a:t>Espresso is a controlled extraction: nine variables, one cup.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