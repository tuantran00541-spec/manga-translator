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Complete %</c:v>
                </c:pt>
              </c:strCache>
            </c:strRef>
          </c:tx>
          <c:spPr>
            <a:solidFill>
              <a:srgbClr val="6E46E0"/>
            </a:solidFill>
          </c:spPr>
          <c:cat>
            <c:strRef>
              <c:f>Sheet1!$A$2:$A$6</c:f>
              <c:strCache>
                <c:ptCount val="5"/>
                <c:pt idx="0">
                  <c:v>Start</c:v>
                </c:pt>
                <c:pt idx="1">
                  <c:v>Input</c:v>
                </c:pt>
                <c:pt idx="2">
                  <c:v>Win</c:v>
                </c:pt>
                <c:pt idx="3">
                  <c:v>Day 3</c:v>
                </c:pt>
                <c:pt idx="4">
                  <c:v>Day 7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100</c:v>
                </c:pt>
                <c:pt idx="1">
                  <c:v>72</c:v>
                </c:pt>
                <c:pt idx="2">
                  <c:v>41</c:v>
                </c:pt>
                <c:pt idx="3">
                  <c:v>28</c:v>
                </c:pt>
                <c:pt idx="4">
                  <c:v>19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After fix %</c:v>
                </c:pt>
              </c:strCache>
            </c:strRef>
          </c:tx>
          <c:spPr>
            <a:solidFill>
              <a:srgbClr val="5A5378"/>
            </a:solidFill>
          </c:spPr>
          <c:cat>
            <c:strRef>
              <c:f>Sheet1!$A$2:$A$6</c:f>
              <c:strCache>
                <c:ptCount val="5"/>
                <c:pt idx="0">
                  <c:v>Start</c:v>
                </c:pt>
                <c:pt idx="1">
                  <c:v>Input</c:v>
                </c:pt>
                <c:pt idx="2">
                  <c:v>Win</c:v>
                </c:pt>
                <c:pt idx="3">
                  <c:v>Day 3</c:v>
                </c:pt>
                <c:pt idx="4">
                  <c:v>Day 7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100</c:v>
                </c:pt>
                <c:pt idx="1">
                  <c:v>84</c:v>
                </c:pt>
                <c:pt idx="2">
                  <c:v>62</c:v>
                </c:pt>
                <c:pt idx="3">
                  <c:v>45</c:v>
                </c:pt>
                <c:pt idx="4">
                  <c:v>34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4200" b="1">
                <a:solidFill>
                  <a:srgbClr val="241E3C"/>
                </a:solidFill>
                <a:latin typeface="DejaVu Sans"/>
              </a:rPr>
              <a:t>ONBOARDING</a:t>
            </a:r>
          </a:p>
          <a:p>
            <a:pPr algn="l">
              <a:spcAft>
                <a:spcPts val="0"/>
              </a:spcAft>
            </a:pPr>
            <a:r>
              <a:rPr sz="4200" b="1">
                <a:solidFill>
                  <a:srgbClr val="6E46E0"/>
                </a:solidFill>
                <a:latin typeface="DejaVu Sans"/>
              </a:rPr>
              <a:t>as a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5A5378"/>
                </a:solidFill>
                <a:latin typeface="DejaVu Sans"/>
              </a:rPr>
              <a:t>Treating new-user setup as the highest-leverage feature you ship.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852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A6B55"/>
                </a:solidFill>
                <a:latin typeface="DejaVu Sans"/>
              </a:rPr>
              <a:t>deck-lab plugin v2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6E46E0"/>
                </a:solidFill>
                <a:latin typeface="DejaVu Sans"/>
              </a:rPr>
              <a:t>The Five Steps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2029968" cy="4206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554480"/>
            <a:ext cx="1755648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A6B55"/>
                </a:solidFill>
                <a:latin typeface="DejaVu Sans"/>
              </a:rPr>
              <a:t>STEP 1</a:t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241E3C"/>
                </a:solidFill>
                <a:latin typeface="DejaVu Sans"/>
              </a:rPr>
              <a:t>Promise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A5378"/>
                </a:solidFill>
                <a:latin typeface="DejaVu Sans"/>
              </a:rPr>
              <a:t>One sentence of what they get in 5 minutes. No feature list.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05456" y="3200400"/>
            <a:ext cx="23774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6E46E0"/>
                </a:solidFill>
                <a:latin typeface="DejaVu Sans"/>
              </a:rPr>
              <a:t>&gt;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61488" y="1280160"/>
            <a:ext cx="2029968" cy="4206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98648" y="1554480"/>
            <a:ext cx="1755648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A6B55"/>
                </a:solidFill>
                <a:latin typeface="DejaVu Sans"/>
              </a:rPr>
              <a:t>STEP 2</a:t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241E3C"/>
                </a:solidFill>
                <a:latin typeface="DejaVu Sans"/>
              </a:rPr>
              <a:t>One input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A5378"/>
                </a:solidFill>
                <a:latin typeface="DejaVu Sans"/>
              </a:rPr>
              <a:t>The first screen asks for the single thing that personalizes everything else.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09744" y="3200400"/>
            <a:ext cx="23774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6E46E0"/>
                </a:solidFill>
                <a:latin typeface="DejaVu Sans"/>
              </a:rPr>
              <a:t>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65776" y="1280160"/>
            <a:ext cx="2029968" cy="4206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02936" y="1554480"/>
            <a:ext cx="1755648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A6B55"/>
                </a:solidFill>
                <a:latin typeface="DejaVu Sans"/>
              </a:rPr>
              <a:t>STEP 3</a:t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241E3C"/>
                </a:solidFill>
                <a:latin typeface="DejaVu Sans"/>
              </a:rPr>
              <a:t>First win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A5378"/>
                </a:solidFill>
                <a:latin typeface="DejaVu Sans"/>
              </a:rPr>
              <a:t>A result on screen in under two minutes, before any settings.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14031" y="3200400"/>
            <a:ext cx="23774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6E46E0"/>
                </a:solidFill>
                <a:latin typeface="DejaVu Sans"/>
              </a:rPr>
              <a:t>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70064" y="1280160"/>
            <a:ext cx="2029968" cy="4206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07224" y="1554480"/>
            <a:ext cx="1755648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A6B55"/>
                </a:solidFill>
                <a:latin typeface="DejaVu Sans"/>
              </a:rPr>
              <a:t>STEP 4</a:t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241E3C"/>
                </a:solidFill>
                <a:latin typeface="DejaVu Sans"/>
              </a:rPr>
              <a:t>Ritual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A5378"/>
                </a:solidFill>
                <a:latin typeface="DejaVu Sans"/>
              </a:rPr>
              <a:t>Three small actions per day, one of them visible to a peer.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0" y="3200400"/>
            <a:ext cx="23774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6E46E0"/>
                </a:solidFill>
                <a:latin typeface="DejaVu Sans"/>
              </a:rPr>
              <a:t>&gt;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74352" y="1280160"/>
            <a:ext cx="2029968" cy="4206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11512" y="1554480"/>
            <a:ext cx="1755648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A6B55"/>
                </a:solidFill>
                <a:latin typeface="DejaVu Sans"/>
              </a:rPr>
              <a:t>STEP 5</a:t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241E3C"/>
                </a:solidFill>
                <a:latin typeface="DejaVu Sans"/>
              </a:rPr>
              <a:t>Review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A5378"/>
                </a:solidFill>
                <a:latin typeface="DejaVu Sans"/>
              </a:rPr>
              <a:t>Day 7: one question, 'what almost stopped you?' That is the next fix.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9436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A5378"/>
                </a:solidFill>
                <a:latin typeface="DejaVu Sans"/>
              </a:rPr>
              <a:t>Each step has a metric: reach, completion, time-to-win, day-7 retention.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6E46E0"/>
                </a:solidFill>
                <a:latin typeface="DejaVu Sans"/>
              </a:rPr>
              <a:t>Drop-off by Step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731520" y="1280160"/>
          <a:ext cx="68580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0" y="1645920"/>
            <a:ext cx="3474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A6B55"/>
                </a:solidFill>
                <a:latin typeface="DejaVu Sans"/>
              </a:rPr>
              <a:t>The cliff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41E3C"/>
                </a:solidFill>
                <a:latin typeface="DejaVu Sans"/>
              </a:rPr>
              <a:t>The win-to-day-3 step lost the most users.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41E3C"/>
                </a:solidFill>
                <a:latin typeface="DejaVu Sans"/>
              </a:rPr>
              <a:t>Fixing it doubled day-7 retention.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5486400" cy="594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49377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6E46E0"/>
                </a:solidFill>
                <a:latin typeface="DejaVu Sans"/>
              </a:rPr>
              <a:t>Skip the settings page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41E3C"/>
                </a:solidFill>
                <a:latin typeface="DejaVu Sans"/>
              </a:rPr>
              <a:t>No accounts, no teams, no import. The first session is about the win, not the admin screen.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41E3C"/>
                </a:solidFill>
                <a:latin typeface="DejaVu Sans"/>
              </a:rPr>
              <a:t>Everything the settings page offers can wait for week two.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457200"/>
            <a:ext cx="5486400" cy="594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822960"/>
            <a:ext cx="49377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6E46E0"/>
                </a:solidFill>
                <a:latin typeface="DejaVu Sans"/>
              </a:rPr>
              <a:t>Skip the tutorial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41E3C"/>
                </a:solidFill>
                <a:latin typeface="DejaVu Sans"/>
              </a:rPr>
              <a:t>A tutorial is a promise nobody keeps. One real task beats ten fake ones.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41E3C"/>
                </a:solidFill>
                <a:latin typeface="DejaVu Sans"/>
              </a:rPr>
              <a:t>The product teaches itself when the first win is visible.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11247120" cy="594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6E46E0"/>
                </a:solidFill>
                <a:latin typeface="DejaVu Sans"/>
              </a:rPr>
              <a:t>The Review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6E46E0"/>
                </a:solidFill>
                <a:latin typeface="DejaVu San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1691640"/>
            <a:ext cx="9326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241E3C"/>
                </a:solidFill>
                <a:latin typeface="DejaVu Sans"/>
              </a:rPr>
              <a:t>Group the exits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2240280"/>
            <a:ext cx="9326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A5378"/>
                </a:solidFill>
                <a:latin typeface="DejaVu Sans"/>
              </a:rPr>
              <a:t>Every 'almost stopped you' answer goes into one of three buckets: didn't get it, didn't care, couldn't finish.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6E46E0"/>
                </a:solidFill>
                <a:latin typeface="DejaVu Sans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2743200"/>
            <a:ext cx="9326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241E3C"/>
                </a:solidFill>
                <a:latin typeface="DejaVu Sans"/>
              </a:rPr>
              <a:t>Fix one bucket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3291840"/>
            <a:ext cx="9326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A5378"/>
                </a:solidFill>
                <a:latin typeface="DejaVu Sans"/>
              </a:rPr>
              <a:t>Pick the bucket with the most users, not the most dramatic story.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79476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6E46E0"/>
                </a:solidFill>
                <a:latin typeface="DejaVu Sans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3794760"/>
            <a:ext cx="9326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241E3C"/>
                </a:solidFill>
                <a:latin typeface="DejaVu Sans"/>
              </a:rPr>
              <a:t>Measure the step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4343400"/>
            <a:ext cx="9326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A5378"/>
                </a:solidFill>
                <a:latin typeface="DejaVu Sans"/>
              </a:rPr>
              <a:t>Only the step you changed gets a new drop-off number.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84632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6E46E0"/>
                </a:solidFill>
                <a:latin typeface="DejaVu Sans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4846320"/>
            <a:ext cx="9326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241E3C"/>
                </a:solidFill>
                <a:latin typeface="DejaVu Sans"/>
              </a:rPr>
              <a:t>Kill the rest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5394960"/>
            <a:ext cx="9326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A5378"/>
                </a:solidFill>
                <a:latin typeface="DejaVu Sans"/>
              </a:rPr>
              <a:t>Onboarding features that haven't moved a number in a quarter get removed.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