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4D9FFF"/>
                </a:solidFill>
                <a:latin typeface="Segoe UI"/>
              </a:rPr>
              <a:t>DECK-LAB DARK-THEME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109441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400" b="1">
                <a:solidFill>
                  <a:srgbClr val="E8EDF5"/>
                </a:solidFill>
                <a:latin typeface="Segoe UI"/>
              </a:rPr>
              <a:t>The Physics of Espresso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A8B4C8"/>
                </a:solidFill>
                <a:latin typeface="Segoe UI"/>
              </a:rPr>
              <a:t>Six variables — grind, pressure, temperature, dose, yield, time — that turn
roasted beans into a cup, and which one to change when the taste is off.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8EDF5"/>
                </a:solidFill>
                <a:latin typeface="Segoe UI"/>
              </a:rPr>
              <a:t>Nine ingredients, one pressure pump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359810" cy="20116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E8EDF5"/>
                </a:solidFill>
                <a:latin typeface="Segoe UI"/>
              </a:rPr>
              <a:t>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81117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A8B4C8"/>
                </a:solidFill>
                <a:latin typeface="Segoe UI"/>
              </a:rPr>
              <a:t>98–99 °C, low-TDS mineral water. Hotter scorch the cup; cooler under-extracts.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6778" y="1737360"/>
            <a:ext cx="3359810" cy="20116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E8EDF5"/>
                </a:solidFill>
                <a:latin typeface="Segoe UI"/>
              </a:rPr>
              <a:t>Beans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468880"/>
            <a:ext cx="281117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A8B4C8"/>
                </a:solidFill>
                <a:latin typeface="Segoe UI"/>
              </a:rPr>
              <a:t>Roasted 7–28 days, 18 g in the basket, ground fine and even.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4916" y="1737360"/>
            <a:ext cx="3359810" cy="20116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9236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E8EDF5"/>
                </a:solidFill>
                <a:latin typeface="Segoe UI"/>
              </a:rPr>
              <a:t>Steam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9236" y="2468880"/>
            <a:ext cx="281117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A8B4C8"/>
                </a:solidFill>
                <a:latin typeface="Segoe UI"/>
              </a:rPr>
              <a:t>Crema is CO₂ and oil emulsified at 9 bar over ~25 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VARIABLE 1 — PRESSURE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8EDF5"/>
                </a:solidFill>
                <a:latin typeface="Segoe UI"/>
              </a:rPr>
              <a:t>9 bar is a target, not a truth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A8B4C8"/>
                </a:solidFill>
                <a:latin typeface="Segoe UI"/>
              </a:rPr>
              <a:t>Static pressure in the group head does not equal pressure at the bed.
Back-pressure from tamping and grind makes the real 3–4 bar on the coffee.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3359810" cy="219456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E8EDF5"/>
                </a:solidFill>
                <a:latin typeface="Segoe UI"/>
              </a:rPr>
              <a:t>Under 8 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A8B4C8"/>
                </a:solidFill>
                <a:latin typeface="Segoe UI"/>
              </a:rPr>
              <a:t>Channeling: water finds the path of least resistance, extraction uneven.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6778" y="2651760"/>
            <a:ext cx="3359810" cy="219456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8803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E8EDF5"/>
                </a:solidFill>
                <a:latin typeface="Segoe UI"/>
              </a:rPr>
              <a:t>9 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098" y="33832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A8B4C8"/>
                </a:solidFill>
                <a:latin typeface="Segoe UI"/>
              </a:rPr>
              <a:t>Standard machine rating; paired with 25 s, the sweet spot for most recipes.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44916" y="2651760"/>
            <a:ext cx="3359810" cy="219456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9236" y="28803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E8EDF5"/>
                </a:solidFill>
                <a:latin typeface="Segoe UI"/>
              </a:rPr>
              <a:t>Over 11 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9236" y="3383280"/>
            <a:ext cx="281117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A8B4C8"/>
                </a:solidFill>
                <a:latin typeface="Segoe UI"/>
              </a:rPr>
              <a:t>Forces through fines and tannins; cup reads bitter and dry.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VARIABLE 2 — GRIND AND TAMPING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8EDF5"/>
                </a:solidFill>
                <a:latin typeface="Segoe UI"/>
              </a:rPr>
              <a:t>The most sensitive pair on the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Start: one click coarser per day; a visibly coarse powder, not dust.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Tamp flat and even — 10–15 kg of force is enough; unevenness extracts unevenly.</a:t>
            </a: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Consistency beats absolute force: a wobble reads as bitterness.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737360"/>
            <a:ext cx="5605272" cy="38404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E8EDF5"/>
                </a:solidFill>
                <a:latin typeface="Segoe UI"/>
              </a:rPr>
              <a:t>FIELD TEST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E8EDF5"/>
                </a:solidFill>
                <a:latin typeface="Segoe UI"/>
              </a:rPr>
              <a:t>Pull twice at the same dose. Faster shot → grind coarser.
Slower, weak shot → grind finer.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600" b="0">
                <a:solidFill>
                  <a:srgbClr val="E8EDF5"/>
                </a:solidFill>
                <a:latin typeface="Segoe UI"/>
              </a:rPr>
              <a:t>One variable at a time; log grind, dose, yield and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57200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4D9FFF"/>
                </a:solidFill>
                <a:latin typeface="Segoe UI"/>
              </a:rPr>
              <a:t>Bold line in blue:</a:t>
            </a:r>
            <a:r>
              <a:rPr sz="1400" b="0">
                <a:solidFill>
                  <a:srgbClr val="E8EDF5"/>
                </a:solidFill>
                <a:latin typeface="Segoe UI"/>
              </a:rPr>
              <a:t> use accent for the one line that matters.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VARIABLE 3 — HEAT AND WATER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8EDF5"/>
                </a:solidFill>
                <a:latin typeface="Segoe UI"/>
              </a:rPr>
              <a:t>99 °C is a ceiling, not a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474720" cy="15544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4D9FFF"/>
                </a:solidFill>
                <a:latin typeface="Segoe UI"/>
              </a:rPr>
              <a:t>93–96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°C pour-in for modern recipes (brighter coffees like the heat)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737360"/>
            <a:ext cx="3474720" cy="15544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9202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4D9FFF"/>
                </a:solidFill>
                <a:latin typeface="Segoe UI"/>
              </a:rPr>
              <a:t>25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48716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extraction window at 9 bar; outside it the cup goes sour or bitter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1737360"/>
            <a:ext cx="3474720" cy="155448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192024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4D9FFF"/>
                </a:solidFill>
                <a:latin typeface="Segoe UI"/>
              </a:rPr>
              <a:t>38–50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3336" y="2487168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A8B4C8"/>
                </a:solidFill>
                <a:latin typeface="Segoe UI"/>
              </a:rPr>
              <a:t>g/L TDS water; hard water scales the boiler, soft water tastes flat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109441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Why it matters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Extraction runs ~18–22% of the dry mass at the pour-in target; temperature sets the
rate of the two. Change it and every other variable — grind, dose, time — shifts with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VARIABLE 4 — DOSE, YIELD,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8EDF5"/>
                </a:solidFill>
                <a:latin typeface="Segoe UI"/>
              </a:rPr>
              <a:t>The 1:2 recipe is a starting 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359810" cy="228600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E8EDF5"/>
                </a:solidFill>
                <a:latin typeface="Segoe UI"/>
              </a:rPr>
              <a:t>18 g in / 36 g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81117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A8B4C8"/>
                </a:solidFill>
                <a:latin typeface="Segoe UI"/>
              </a:rPr>
              <a:t>Standard 1:2 espresso: 18 g of dry coffee, ~36 g of liquid, medium body.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6778" y="1737360"/>
            <a:ext cx="3359810" cy="228600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1098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E8EDF5"/>
                </a:solidFill>
                <a:latin typeface="Segoe UI"/>
              </a:rPr>
              <a:t>25 s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1098" y="2468880"/>
            <a:ext cx="281117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A8B4C8"/>
                </a:solidFill>
                <a:latin typeface="Segoe UI"/>
              </a:rPr>
              <a:t>First 10 s run light (sour if it stays light); last 10 s bring the sugar.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44916" y="1737360"/>
            <a:ext cx="3359810" cy="228600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9236" y="1965960"/>
            <a:ext cx="281117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E8EDF5"/>
                </a:solidFill>
                <a:latin typeface="Segoe UI"/>
              </a:rPr>
              <a:t>Front / 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9236" y="2468880"/>
            <a:ext cx="281117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A8B4C8"/>
                </a:solidFill>
                <a:latin typeface="Segoe UI"/>
              </a:rPr>
              <a:t>Taste both: front under-extracted, over-extracted tail reads bitter.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4D9FFF"/>
                </a:solidFill>
                <a:latin typeface="Segoe UI"/>
              </a:rPr>
              <a:t>Scale-first: </a:t>
            </a:r>
            <a:r>
              <a:rPr sz="1500" b="0">
                <a:solidFill>
                  <a:srgbClr val="E8EDF5"/>
                </a:solidFill>
                <a:latin typeface="Segoe UI"/>
              </a:rPr>
              <a:t>weigh the cup at 10 s and 25 s; a flat curve means the grind stopped letting water through.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4D9FFF"/>
                </a:solidFill>
                <a:latin typeface="Segoe UI"/>
              </a:rP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E8EDF5"/>
                </a:solidFill>
                <a:latin typeface="Segoe UI"/>
              </a:rPr>
              <a:t>Change one thing, taste, log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02920" cy="50292"/>
          </a:xfrm>
          <a:prstGeom prst="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1094415" cy="82296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02536"/>
            <a:ext cx="384048" cy="384048"/>
          </a:xfrm>
          <a:prstGeom prst="round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1420"/>
                </a:solidFill>
                <a:latin typeface="Segoe UI"/>
              </a:rPr>
              <a:t>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2082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Grind and tamping are 80% of the fight — fix those before touching temperature.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11094415" cy="82296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962656"/>
            <a:ext cx="384048" cy="384048"/>
          </a:xfrm>
          <a:prstGeom prst="round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9923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1420"/>
                </a:solidFill>
                <a:latin typeface="Segoe U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8094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Log dose, yield and time every pull; the log is the experiment.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03320"/>
            <a:ext cx="11094415" cy="822960"/>
          </a:xfrm>
          <a:prstGeom prst="roundRect">
            <a:avLst/>
          </a:prstGeom>
          <a:solidFill>
            <a:srgbClr val="1B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22776"/>
            <a:ext cx="384048" cy="384048"/>
          </a:xfrm>
          <a:prstGeom prst="roundRect">
            <a:avLst/>
          </a:prstGeom>
          <a:solidFill>
            <a:srgbClr val="4D9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59352"/>
            <a:ext cx="320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F1420"/>
                </a:solidFill>
                <a:latin typeface="Segoe U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4106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DF5"/>
                </a:solidFill>
                <a:latin typeface="Segoe UI"/>
              </a:rPr>
              <a:t>A lighter roast wants a cooler pour-in and a finer grind; dark roasts the reverse.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4D9FFF"/>
                </a:solidFill>
                <a:latin typeface="Segoe UI"/>
              </a:rPr>
              <a:t>Espresso is a controlled extraction: nine variables, one cup.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