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C4571A"/>
                </a:solidFill>
                <a:latin typeface="Segoe UI"/>
              </a:rPr>
              <a:t>A POSTMORTEM IN 7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109441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000" b="1">
                <a:solidFill>
                  <a:srgbClr val="2A231C"/>
                </a:solidFill>
                <a:latin typeface="Segoe UI"/>
              </a:rPr>
              <a:t>Bugs We Could
Have Prevented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5C4F3E"/>
                </a:solidFill>
                <a:latin typeface="Segoe UI"/>
              </a:rPr>
              <a:t>Five production incidents, each one a single missing check — and the
habit that would have caught it before the deploy.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4571A"/>
                </a:solidFill>
                <a:latin typeface="Segoe UI"/>
              </a:rPr>
              <a:t>IDEA 1 —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2A231C"/>
                </a:solidFill>
                <a:latin typeface="Segoe UI"/>
              </a:rPr>
              <a:t>One hour down, counted the honest 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C4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606040" cy="137160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C4571A"/>
                </a:solidFill>
                <a:latin typeface="Segoe UI"/>
              </a:rPr>
              <a:t>3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87168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C4F3E"/>
                </a:solidFill>
                <a:latin typeface="Segoe UI"/>
              </a:rPr>
              <a:t>on-call engineer, half the night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0712" y="1737360"/>
            <a:ext cx="2606040" cy="137160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92024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C4571A"/>
                </a:solidFill>
                <a:latin typeface="Segoe UI"/>
              </a:rPr>
              <a:t>41×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487168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C4F3E"/>
                </a:solidFill>
                <a:latin typeface="Segoe UI"/>
              </a:rPr>
              <a:t>user-facing, per hour, in a support queue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737360"/>
            <a:ext cx="2606040" cy="137160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192024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C4571A"/>
                </a:solidFill>
                <a:latin typeface="Segoe UI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1384" y="2487168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C4F3E"/>
                </a:solidFill>
                <a:latin typeface="Segoe UI"/>
              </a:rPr>
              <a:t>minutes to rollback — we waited 2 hours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34856" y="1737360"/>
            <a:ext cx="2606040" cy="137160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3456" y="192024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C4571A"/>
                </a:solidFill>
                <a:latin typeface="Segoe UI"/>
              </a:rPr>
              <a:t>$0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63456" y="2487168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5C4F3E"/>
                </a:solidFill>
                <a:latin typeface="Segoe UI"/>
              </a:rPr>
              <a:t>paid by the test we did not write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49039"/>
            <a:ext cx="110944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2A231C"/>
                </a:solidFill>
                <a:latin typeface="Segoe UI"/>
              </a:rPr>
              <a:t>The arithmetic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2A231C"/>
                </a:solidFill>
                <a:latin typeface="Segoe UI"/>
              </a:rPr>
              <a:t>Incident cost is not just the rollback: it is the on-call pager, the
status page, the follow-up doc, and the next two weeks of extra caution. A single
5-minute test usually costs less than the last of those line items.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4571A"/>
                </a:solidFill>
                <a:latin typeface="Segoe UI"/>
              </a:rPr>
              <a:t>IDEA 2 — THE MISSING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2A231C"/>
                </a:solidFill>
                <a:latin typeface="Segoe UI"/>
              </a:rPr>
              <a:t>Null that shipped in a release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C4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359810" cy="219456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2A231C"/>
                </a:solidFill>
                <a:latin typeface="Segoe UI"/>
              </a:rPr>
              <a:t>What happened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281117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5C4F3E"/>
                </a:solidFill>
                <a:latin typeface="Segoe UI"/>
              </a:rPr>
              <a:t>A new field defaulted to None on one branch of the pricing code. No user hit that branch for weeks; the next deploy made it the main 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6778" y="1737360"/>
            <a:ext cx="3359810" cy="219456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1098" y="196596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2A231C"/>
                </a:solidFill>
                <a:latin typeface="Segoe UI"/>
              </a:rPr>
              <a:t>Where it hid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1098" y="2468880"/>
            <a:ext cx="281117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5C4F3E"/>
                </a:solidFill>
                <a:latin typeface="Segoe UI"/>
              </a:rPr>
              <a:t>The unit test covered the happy path only; the branch was one `if not x` away.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44916" y="1737360"/>
            <a:ext cx="3359810" cy="219456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9236" y="196596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2A231C"/>
                </a:solidFill>
                <a:latin typeface="Segoe UI"/>
              </a:rPr>
              <a:t>The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9236" y="2468880"/>
            <a:ext cx="281117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5C4F3E"/>
                </a:solidFill>
                <a:latin typeface="Segoe UI"/>
              </a:rPr>
              <a:t>Property test: for 200 random price inputs, the output is never None. 30 lines.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C4571A"/>
                </a:solidFill>
                <a:latin typeface="Segoe UI"/>
              </a:rPr>
              <a:t>Lesson: </a:t>
            </a:r>
            <a:r>
              <a:rPr sz="1500" b="0">
                <a:solidFill>
                  <a:srgbClr val="2A231C"/>
                </a:solidFill>
                <a:latin typeface="Segoe UI"/>
              </a:rPr>
              <a:t>the branch that is rarely taken is the one that changes meaning —
treat rare paths as the main test, not an exception.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4571A"/>
                </a:solidFill>
                <a:latin typeface="Segoe UI"/>
              </a:rPr>
              <a:t>IDEA 3 — THE MISSING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2A231C"/>
                </a:solidFill>
                <a:latin typeface="Segoe UI"/>
              </a:rPr>
              <a:t>Float, money, rounding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C4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C4F3E"/>
                </a:solidFill>
                <a:latin typeface="Segoe UI"/>
              </a:rPr>
              <a:t>Invoice totals built on `float` arithmetic disagreed with the bank by 3 cents
out of 100 — enough to fail the reconciliation report, not enough to alarm anyone.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3359810" cy="219456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2A231C"/>
                </a:solidFill>
                <a:latin typeface="Segoe UI"/>
              </a:rPr>
              <a:t>0.1 + 0.2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281117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5C4F3E"/>
                </a:solidFill>
                <a:latin typeface="Segoe UI"/>
              </a:rPr>
              <a:t>The Python repr that haunts every language’s money math.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6778" y="2743200"/>
            <a:ext cx="3359810" cy="219456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97180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2A231C"/>
                </a:solidFill>
                <a:latin typeface="Segoe UI"/>
              </a:rPr>
              <a:t>Decimal("0.1") +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1098" y="3474720"/>
            <a:ext cx="281117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5C4F3E"/>
                </a:solidFill>
                <a:latin typeface="Segoe UI"/>
              </a:rPr>
              <a:t>Decimal is the type, not the function — the sum is exactly 0.3.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4916" y="2743200"/>
            <a:ext cx="3359810" cy="219456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9236" y="297180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2A231C"/>
                </a:solidFill>
                <a:latin typeface="Segoe UI"/>
              </a:rPr>
              <a:t>Exactly 0.3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9236" y="3474720"/>
            <a:ext cx="281117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5C4F3E"/>
                </a:solidFill>
                <a:latin typeface="Segoe UI"/>
              </a:rPr>
              <a:t>The diff is the bug; the test should assert on 0.3, not 0.30000000000000004.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20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C4571A"/>
                </a:solidFill>
                <a:latin typeface="Segoe UI"/>
              </a:rPr>
              <a:t>Lesson: </a:t>
            </a:r>
            <a:r>
              <a:rPr sz="1400" b="0">
                <a:solidFill>
                  <a:srgbClr val="2A231C"/>
                </a:solidFill>
                <a:latin typeface="Segoe UI"/>
              </a:rPr>
              <a:t>any code that touches money, or any value that must round cleanly,
is a `Decimal` code path. No exceptions for speed — money bugs are not fast enough to skip.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4571A"/>
                </a:solidFill>
                <a:latin typeface="Segoe UI"/>
              </a:rPr>
              <a:t>IDEA 4 — THE MISSING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2A231C"/>
                </a:solidFill>
                <a:latin typeface="Segoe UI"/>
              </a:rPr>
              <a:t>The race nobody saw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C4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359810" cy="219456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2A231C"/>
                </a:solidFill>
                <a:latin typeface="Segoe UI"/>
              </a:rPr>
              <a:t>Symptom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281117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5C4F3E"/>
                </a:solidFill>
                <a:latin typeface="Segoe UI"/>
              </a:rPr>
              <a:t>Two users, same invoice, both saw “updated”, one saw a $12 gap for a week.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6778" y="1737360"/>
            <a:ext cx="3359810" cy="219456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1098" y="196596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2A231C"/>
                </a:solidFill>
                <a:latin typeface="Segoe UI"/>
              </a:rPr>
              <a:t>Root cause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1098" y="2468880"/>
            <a:ext cx="281117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5C4F3E"/>
                </a:solidFill>
                <a:latin typeface="Segoe UI"/>
              </a:rPr>
              <a:t>Read-modify-write with no row lock; fast users beat the slow commit.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44916" y="1737360"/>
            <a:ext cx="3359810" cy="219456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9236" y="196596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2A231C"/>
                </a:solidFill>
                <a:latin typeface="Segoe UI"/>
              </a:rPr>
              <a:t>The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9236" y="2468880"/>
            <a:ext cx="281117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5C4F3E"/>
                </a:solidFill>
                <a:latin typeface="Segoe UI"/>
              </a:rPr>
              <a:t>Integration test: two threads update the same row; assert one wins, one errors with 409.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C4571A"/>
                </a:solidFill>
                <a:latin typeface="Segoe UI"/>
              </a:rPr>
              <a:t>Lesson: </a:t>
            </a:r>
            <a:r>
              <a:rPr sz="1500" b="0">
                <a:solidFill>
                  <a:srgbClr val="2A231C"/>
                </a:solidFill>
                <a:latin typeface="Segoe UI"/>
              </a:rPr>
              <a:t>races are not caught in review — they are caught in integration tests
that actually run two callers at the same time. “Should be fine in practice” is
the exact phrase that precedes the next postmortem.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4571A"/>
                </a:solidFill>
                <a:latin typeface="Segoe UI"/>
              </a:rPr>
              <a:t>IDEA 5 — THE HABITS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2A231C"/>
                </a:solidFill>
                <a:latin typeface="Segoe UI"/>
              </a:rPr>
              <a:t>Four checks that cover most of these classes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C4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1094415" cy="91440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93392"/>
            <a:ext cx="402336" cy="402336"/>
          </a:xfrm>
          <a:prstGeom prst="roundRect">
            <a:avLst/>
          </a:prstGeom>
          <a:solidFill>
            <a:srgbClr val="C4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0195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2A231C"/>
                </a:solidFill>
                <a:latin typeface="Segoe UI"/>
              </a:rPr>
              <a:t>Default to None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01952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C4F3E"/>
                </a:solidFill>
                <a:latin typeface="Segoe UI"/>
              </a:rPr>
              <a:t>Every new field gets a default; every code path is tested with the default present.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79775"/>
            <a:ext cx="11094415" cy="91440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035807"/>
            <a:ext cx="402336" cy="402336"/>
          </a:xfrm>
          <a:prstGeom prst="roundRect">
            <a:avLst/>
          </a:prstGeom>
          <a:solidFill>
            <a:srgbClr val="C4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54095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44367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2A231C"/>
                </a:solidFill>
                <a:latin typeface="Segoe UI"/>
              </a:rPr>
              <a:t>Money = Decimal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44367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C4F3E"/>
                </a:solidFill>
                <a:latin typeface="Segoe UI"/>
              </a:rPr>
              <a:t>No float in billing, pricing or aggregation paths. Lint rule: `float` in these directories.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22190"/>
            <a:ext cx="11094415" cy="91440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078222"/>
            <a:ext cx="402336" cy="402336"/>
          </a:xfrm>
          <a:prstGeom prst="roundRect">
            <a:avLst/>
          </a:prstGeom>
          <a:solidFill>
            <a:srgbClr val="C4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9651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98678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2A231C"/>
                </a:solidFill>
                <a:latin typeface="Segoe UI"/>
              </a:rPr>
              <a:t>Concurrency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986782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C4F3E"/>
                </a:solidFill>
                <a:latin typeface="Segoe UI"/>
              </a:rPr>
              <a:t>Any endpoint that writes to a shared row gets a two-thread integration test in CI.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64605"/>
            <a:ext cx="11094415" cy="914400"/>
          </a:xfrm>
          <a:prstGeom prst="roundRect">
            <a:avLst/>
          </a:prstGeom>
          <a:solidFill>
            <a:srgbClr val="E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5120637"/>
            <a:ext cx="402336" cy="402336"/>
          </a:xfrm>
          <a:prstGeom prst="roundRect">
            <a:avLst/>
          </a:prstGeom>
          <a:solidFill>
            <a:srgbClr val="C4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38925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029197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2A231C"/>
                </a:solidFill>
                <a:latin typeface="Segoe UI"/>
              </a:rPr>
              <a:t>One rare branch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029197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5C4F3E"/>
                </a:solidFill>
                <a:latin typeface="Segoe UI"/>
              </a:rPr>
              <a:t>The least-traveled path of any function gets its own named test, not a hidden `else`.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4571A"/>
                </a:solidFill>
                <a:latin typeface="Segoe UI"/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2A231C"/>
                </a:solidFill>
                <a:latin typeface="Segoe UI"/>
              </a:rPr>
              <a:t>The bug is cheaper to write than to find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C4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944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700" b="0">
                <a:solidFill>
                  <a:srgbClr val="2A231C"/>
                </a:solidFill>
                <a:latin typeface="Segoe UI"/>
              </a:rPr>
              <a:t>Most production incidents are preventable, cheaply: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700" b="0">
                <a:solidFill>
                  <a:srgbClr val="2A231C"/>
                </a:solidFill>
                <a:latin typeface="Segoe UI"/>
              </a:rPr>
              <a:t>a default-value test, a Decimal swap, a two-thread test, one named branch test.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700" b="0">
                <a:solidFill>
                  <a:srgbClr val="2A231C"/>
                </a:solidFill>
                <a:latin typeface="Segoe UI"/>
              </a:rPr>
              <a:t>None of them takes more than an hour. The postmortem always takes longer than the test did not.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206240"/>
            <a:ext cx="11094415" cy="1463040"/>
          </a:xfrm>
          <a:prstGeom prst="roundRect">
            <a:avLst/>
          </a:prstGeom>
          <a:solidFill>
            <a:srgbClr val="C45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1054577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Write the test before the deploy. It is always cheaper than the rollback.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