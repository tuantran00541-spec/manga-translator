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Climate Action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8E2D8"/>
                </a:solidFill>
                <a:latin typeface="DejaVu Sans"/>
              </a:rPr>
              <a:t>Five moves that actually cut emissions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1</a:t>
            </a:r>
          </a:p>
        </p:txBody>
      </p:sp>
    </p:spTree>
  </p:cSld>
  <p:clrMapOvr>
    <a:masterClrMapping/>
  </p:clrMapOvr>
  <p:transition spd="med">
    <p:fade dur="50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Today's path in four stops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5623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DejaVu Sans"/>
              </a:rPr>
              <a:t>97% of warming is still ahead of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0779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levers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DejaVu Sans"/>
              </a:rPr>
              <a:t>Energy, transport, buildings,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5935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70831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DejaVu Sans"/>
              </a:rPr>
              <a:t>Where effort is already paying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7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109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2239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DejaVu Sans"/>
              </a:rPr>
              <a:t>Your first three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2</a:t>
            </a:r>
          </a:p>
        </p:txBody>
      </p:sp>
    </p:spTree>
  </p:cSld>
  <p:clrMapOvr>
    <a:masterClrMapping/>
  </p:clrMapOvr>
  <p:transition spd="med">
    <p:fade dur="50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Four sectors, ranked by emission 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21458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21458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21556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B7D"/>
                </a:solidFill>
                <a:latin typeface="DejaVu Sans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15569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215569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Power generation is 30% of global CO2.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5857" y="1828800"/>
            <a:ext cx="2521458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5857" y="1828800"/>
            <a:ext cx="2521458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8737" y="2148840"/>
            <a:ext cx="21556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B7D"/>
                </a:solidFill>
                <a:latin typeface="DejaVu Sans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8737" y="2514600"/>
            <a:ext cx="215569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8737" y="3383280"/>
            <a:ext cx="215569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Roads and aviation: 24% and rising.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1828800"/>
            <a:ext cx="2521458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636" y="1828800"/>
            <a:ext cx="2521458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4516" y="2148840"/>
            <a:ext cx="21556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B7D"/>
                </a:solidFill>
                <a:latin typeface="DejaVu Sans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2514600"/>
            <a:ext cx="215569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Buildings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3383280"/>
            <a:ext cx="215569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Heating and cooling: 17% of emissions.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7413" y="1828800"/>
            <a:ext cx="2521458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7413" y="1828800"/>
            <a:ext cx="2521458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0293" y="2148840"/>
            <a:ext cx="21556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B7D"/>
                </a:solidFill>
                <a:latin typeface="DejaVu Sans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293" y="2514600"/>
            <a:ext cx="215569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Food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0293" y="3383280"/>
            <a:ext cx="215569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Agriculture: 19% including land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3</a:t>
            </a:r>
          </a:p>
        </p:txBody>
      </p:sp>
    </p:spTree>
  </p:cSld>
  <p:clrMapOvr>
    <a:masterClrMapping/>
  </p:clrMapOvr>
  <p:transition spd="med">
    <p:fade dur="50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Emissions intensity is finally falling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868680" cy="233172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7000" y="1975104"/>
            <a:ext cx="868680" cy="2139696"/>
          </a:xfrm>
          <a:prstGeom prst="rect">
            <a:avLst/>
          </a:prstGeom>
          <a:solidFill>
            <a:srgbClr val="4A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556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5560" y="16550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78%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1040" y="2139696"/>
            <a:ext cx="868680" cy="1975104"/>
          </a:xfrm>
          <a:prstGeom prst="rect">
            <a:avLst/>
          </a:prstGeom>
          <a:solidFill>
            <a:srgbClr val="6B9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960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1819655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72%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441448"/>
            <a:ext cx="868680" cy="1673352"/>
          </a:xfrm>
          <a:prstGeom prst="rect">
            <a:avLst/>
          </a:prstGeom>
          <a:solidFill>
            <a:srgbClr val="8FB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2140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61%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572000"/>
            <a:ext cx="6400800" cy="13716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4515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global CO2 per unit of GDP (index, 2015 = 1.0)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DejaVu Sans"/>
              </a:rPr>
              <a:t>How to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1460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3A5C"/>
                </a:solidFill>
                <a:latin typeface="DejaVu Sans"/>
              </a:rPr>
              <a:t>The drop is steepest since 2020. Renewables lead. Transport has not yet followed the curve.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4</a:t>
            </a:r>
          </a:p>
        </p:txBody>
      </p:sp>
    </p:spTree>
  </p:cSld>
  <p:clrMapOvr>
    <a:masterClrMapping/>
  </p:clrMapOvr>
  <p:transition spd="med">
    <p:fade dur="50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Three moves,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3453384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3453384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2996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3A5C"/>
                </a:solidFill>
                <a:latin typeface="DejaVu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29961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Switch the meter: pick a green tariff or install a panel.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3840480"/>
            <a:ext cx="3453384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7784" y="3840480"/>
            <a:ext cx="3453384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6384" y="4160520"/>
            <a:ext cx="2996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3A5C"/>
                </a:solidFill>
                <a:latin typeface="DejaVu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6384" y="5029200"/>
            <a:ext cx="29961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Fix the leaks: seal drafts, tune the boiler, set timers.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5488" y="3840480"/>
            <a:ext cx="3453384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5488" y="3840480"/>
            <a:ext cx="3453384" cy="10972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4088" y="4160520"/>
            <a:ext cx="2996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3A5C"/>
                </a:solidFill>
                <a:latin typeface="DejaVu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088" y="5029200"/>
            <a:ext cx="29961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Change the route: one car-free day per week, logged.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5</a:t>
            </a:r>
          </a:p>
        </p:txBody>
      </p:sp>
    </p:spTree>
  </p:cSld>
  <p:clrMapOvr>
    <a:masterClrMapping/>
  </p:clrMapOvr>
  <p:transition spd="med">
    <p:fade dur="50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55448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DejaVu Sans"/>
              </a:rPr>
              <a:t>Start small, measure,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Pick one lever per sector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Measure weekly, not yearly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Share the number 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The plan that gets counted is the plan that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6</a:t>
            </a:r>
          </a:p>
        </p:txBody>
      </p:sp>
    </p:spTree>
  </p:cSld>
  <p:clrMapOvr>
    <a:masterClrMapping/>
  </p:clrMapOvr>
  <p:transition spd="med">
    <p:fade dur="50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