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548640" cy="508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Cities Run Out of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FC8C4"/>
                </a:solidFill>
                <a:latin typeface="DejaVu Sans"/>
              </a:rPr>
              <a:t>The quiet infrastructure crisis behind every drought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FC8C4"/>
                </a:solidFill>
                <a:latin typeface="DejaVu Sans"/>
              </a:rPr>
              <a:t>Water Risk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A441"/>
                </a:solidFill>
                <a:latin typeface="DejaVu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DejaVu Sans"/>
              </a:rPr>
              <a:t>Four stops to understand water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A441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5623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933"/>
                </a:solidFill>
                <a:latin typeface="DejaVu Sans"/>
              </a:rPr>
              <a:t>The demand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A8F"/>
                </a:solidFill>
                <a:latin typeface="DejaVu Sans"/>
              </a:rPr>
              <a:t>Cities are outgrowing their aquifers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A441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077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933"/>
                </a:solidFill>
                <a:latin typeface="DejaVu Sans"/>
              </a:rPr>
              <a:t>Where it leaks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A8F"/>
                </a:solidFill>
                <a:latin typeface="DejaVu Sans"/>
              </a:rPr>
              <a:t>The three places water disappears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A441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593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933"/>
                </a:solidFill>
                <a:latin typeface="DejaVu Sans"/>
              </a:rPr>
              <a:t>The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708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A8F"/>
                </a:solidFill>
                <a:latin typeface="DejaVu Sans"/>
              </a:rPr>
              <a:t>Supply, demand, loss - by the decade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A441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109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2933"/>
                </a:solidFill>
                <a:latin typeface="DejaVu Sans"/>
              </a:rPr>
              <a:t>What moves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223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A8F"/>
                </a:solidFill>
                <a:latin typeface="DejaVu Sans"/>
              </a:rPr>
              <a:t>Five interventions that actually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Water Risk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A441"/>
                </a:solidFill>
                <a:latin typeface="DejaVu Sans"/>
              </a:rPr>
              <a:t>THE DEMAND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DejaVu Sans"/>
              </a:rPr>
              <a:t>Four forces pushing city water use upward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21458" cy="32918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21458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0642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A8F"/>
                </a:solidFill>
                <a:latin typeface="DejaVu Sans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3"/>
                </a:solidFill>
                <a:latin typeface="DejaVu Sans"/>
              </a:rPr>
              <a:t>Population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206425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Metro regions keep absorbing the country's growth.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5858" y="1828800"/>
            <a:ext cx="2521458" cy="32918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5858" y="1828800"/>
            <a:ext cx="2521458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4458" y="2148840"/>
            <a:ext cx="20642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A8F"/>
                </a:solidFill>
                <a:latin typeface="DejaVu Sans"/>
              </a:rPr>
              <a:t>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4458" y="251460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3"/>
                </a:solidFill>
                <a:latin typeface="DejaVu Sans"/>
              </a:rPr>
              <a:t>Per-capita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4458" y="3383280"/>
            <a:ext cx="206425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More showers, more lawns, more dishwashers each.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1828800"/>
            <a:ext cx="2521458" cy="32918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636" y="1828800"/>
            <a:ext cx="2521458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0236" y="2148840"/>
            <a:ext cx="20642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A8F"/>
                </a:solidFill>
                <a:latin typeface="DejaVu Sans"/>
              </a:rPr>
              <a:t>F3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251460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3"/>
                </a:solidFill>
                <a:latin typeface="DejaVu Sans"/>
              </a:rPr>
              <a:t>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0236" y="3383280"/>
            <a:ext cx="206425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Drier, hotter summers: irrigation and AC both drink.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7414" y="1828800"/>
            <a:ext cx="2521458" cy="32918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7414" y="1828800"/>
            <a:ext cx="2521458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6014" y="2148840"/>
            <a:ext cx="20642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A8F"/>
                </a:solidFill>
                <a:latin typeface="DejaVu Sans"/>
              </a:rPr>
              <a:t>F4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014" y="251460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3"/>
                </a:solidFill>
                <a:latin typeface="DejaVu Sans"/>
              </a:rPr>
              <a:t>Industry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6014" y="3383280"/>
            <a:ext cx="206425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Data centers and fabs hide in 'light' sectors.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Water Risk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A441"/>
                </a:solidFill>
                <a:latin typeface="DejaVu Sans"/>
              </a:rPr>
              <a:t>WHERE IT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DejaVu Sans"/>
              </a:rPr>
              <a:t>Water vanishes at three points, not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08792" cy="19202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268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7B"/>
                </a:solidFill>
                <a:latin typeface="DejaVu Sans"/>
              </a:rPr>
              <a:t>PIPE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933"/>
                </a:solidFill>
                <a:latin typeface="DejaVu Sans"/>
              </a:rPr>
              <a:t>Aging mains are a running leak: many mid-sized cities lose 20-30% of pumped water before a customer sees it.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933"/>
                </a:solidFill>
                <a:latin typeface="DejaVu Sans"/>
              </a:rPr>
              <a:t>Every unmarked break is a small emergency, forever.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10268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7B"/>
                </a:solidFill>
                <a:latin typeface="DejaVu Sans"/>
              </a:rPr>
              <a:t>DEMAND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933"/>
                </a:solidFill>
                <a:latin typeface="DejaVu Sans"/>
              </a:rPr>
              <a:t>Cities plan for normal years and run out in dry ones.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933"/>
                </a:solidFill>
                <a:latin typeface="DejaVu Sans"/>
              </a:rPr>
              <a:t>Reservoirs, aquifers and reuse plants are sized to averages, not to the 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Water Risk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A441"/>
                </a:solidFill>
                <a:latin typeface="DejaVu Sans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FC8C4"/>
                </a:solidFill>
                <a:latin typeface="DejaVu Sans"/>
              </a:rPr>
              <a:t>Supply, demand and loss - by the decade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FC8C4"/>
                </a:solidFill>
                <a:latin typeface="DejaVu Sans"/>
              </a:rPr>
              <a:t>Water Risk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A441"/>
                </a:solidFill>
                <a:latin typeface="DejaVu Sans"/>
              </a:rPr>
              <a:t>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DejaVu Sans"/>
              </a:rPr>
              <a:t>Supply falls, demand rises - the scissors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10512"/>
            <a:ext cx="868680" cy="24871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2010 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933"/>
                </a:solidFill>
                <a:latin typeface="DejaVu Sans"/>
              </a:rPr>
              <a:t>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9384" y="2190903"/>
            <a:ext cx="868680" cy="210677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7944" y="434340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2020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4" y="1870863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933"/>
                </a:solidFill>
                <a:latin typeface="DejaVu Sans"/>
              </a:rPr>
              <a:t>72%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2688336"/>
            <a:ext cx="868680" cy="16093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434340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2030 supply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3682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933"/>
                </a:solidFill>
                <a:latin typeface="DejaVu Sans"/>
              </a:rPr>
              <a:t>55%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2232" y="2542032"/>
            <a:ext cx="868680" cy="1755648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2" y="434340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2010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2" y="222199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933"/>
                </a:solidFill>
                <a:latin typeface="DejaVu Sans"/>
              </a:rPr>
              <a:t>60%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8656" y="2249425"/>
            <a:ext cx="868680" cy="2048255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434340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2020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1929385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933"/>
                </a:solidFill>
                <a:latin typeface="DejaVu Sans"/>
              </a:rPr>
              <a:t>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898295"/>
            <a:ext cx="868680" cy="2399385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34340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2030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578255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933"/>
                </a:solidFill>
                <a:latin typeface="DejaVu Sans"/>
              </a:rPr>
              <a:t>82%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800600"/>
            <a:ext cx="6400800" cy="12700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supply (teal) / demand (slate), index, 100 = full aquifer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1031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C7B"/>
                </a:solidFill>
                <a:latin typeface="DejaVu Sans"/>
              </a:rPr>
              <a:t>HOW TO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514600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933"/>
                </a:solidFill>
                <a:latin typeface="DejaVu Sans"/>
              </a:rPr>
              <a:t>By 2030 the two lines cross: demand runs 27 points past what the aquifer can give.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84048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3"/>
                </a:solidFill>
                <a:latin typeface="DejaVu Sans"/>
              </a:rPr>
              <a:t>Where the falling supply curve meets the rising demand curve, the gap stops being a forecast.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Water Risk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A441"/>
                </a:solidFill>
                <a:latin typeface="DejaVu Sans"/>
              </a:rPr>
              <a:t>WHAT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3"/>
                </a:solidFill>
                <a:latin typeface="DejaVu Sans"/>
              </a:rPr>
              <a:t>Five interventions, ranked by water saved per dollar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21458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21458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E7C7B"/>
                </a:solidFill>
                <a:latin typeface="DejaVu Sans"/>
              </a:rPr>
              <a:t>$1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price water so scarcity is felt, not hidden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5858" y="1828800"/>
            <a:ext cx="2521458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35858" y="1828800"/>
            <a:ext cx="2521458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4458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E7C7B"/>
                </a:solidFill>
                <a:latin typeface="DejaVu Sans"/>
              </a:rPr>
              <a:t>0.8%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4458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loss cut per year with leak-only programs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2521458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2521458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E7C7B"/>
                </a:solidFill>
                <a:latin typeface="DejaVu Sans"/>
              </a:rPr>
              <a:t>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return on reuse vs. building new intake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7414" y="1828800"/>
            <a:ext cx="2521458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27414" y="1828800"/>
            <a:ext cx="2521458" cy="1097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6014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E7C7B"/>
                </a:solidFill>
                <a:latin typeface="DejaVu Sans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6014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3"/>
                </a:solidFill>
                <a:latin typeface="DejaVu Sans"/>
              </a:rPr>
              <a:t>of peak demand shiftable off-peak,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A8F"/>
                </a:solidFill>
                <a:latin typeface="DejaVu Sans"/>
              </a:rPr>
              <a:t>Ranked by water saved per dollar: pricing, leak repair, reuse, peak shifting.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8F"/>
                </a:solidFill>
                <a:latin typeface="DejaVu Sans"/>
              </a:rPr>
              <a:t>Water Risk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554480"/>
            <a:ext cx="548640" cy="508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DejaVu Sans"/>
              </a:rPr>
              <a:t>Water is a schedule, not a tap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6858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7FC8C4"/>
                </a:solidFill>
                <a:latin typeface="DejaVu Sans"/>
              </a:rPr>
              <a:t>1. Name the gap: supply vs. demand, by 2030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7FC8C4"/>
                </a:solidFill>
                <a:latin typeface="DejaVu Sans"/>
              </a:rPr>
              <a:t>2. Fund leaks first, reuse second, price third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7FC8C4"/>
                </a:solidFill>
                <a:latin typeface="DejaVu Sans"/>
              </a:rPr>
              <a:t>3. Shrink the peak before you buy a 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The city that measures its leak today prices its own water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FC8C4"/>
                </a:solidFill>
                <a:latin typeface="DejaVu Sans"/>
              </a:rPr>
              <a:t>Water Risk  ·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