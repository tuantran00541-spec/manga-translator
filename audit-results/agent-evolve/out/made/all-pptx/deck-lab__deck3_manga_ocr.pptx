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3F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03120"/>
            <a:ext cx="548640" cy="50800"/>
          </a:xfrm>
          <a:prstGeom prst="rect">
            <a:avLst/>
          </a:prstGeom>
          <a:solidFill>
            <a:srgbClr val="F0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DejaVu Sans"/>
              </a:rPr>
              <a:t>Manga Translation in the Age of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0DCE7"/>
                </a:solidFill>
                <a:latin typeface="DejaVu Sans"/>
              </a:rPr>
              <a:t>From scanned panel to localized text in five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0DCE7"/>
                </a:solidFill>
                <a:latin typeface="DejaVu Sans"/>
              </a:rPr>
              <a:t>Manga OCR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3F63"/>
                </a:solidFill>
                <a:latin typeface="DejaVu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2B2B"/>
                </a:solidFill>
                <a:latin typeface="DejaVu Sans"/>
              </a:rPr>
              <a:t>One idea per stop, five stops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D5A80"/>
                </a:solidFill>
                <a:latin typeface="DejaVu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562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DejaVu Sans"/>
              </a:rPr>
              <a:t>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Detect, recognize, erase, translate, repaint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D5A80"/>
                </a:solidFill>
                <a:latin typeface="DejaVu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077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DejaVu Sans"/>
              </a:rPr>
              <a:t>Why panels are 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Speech bubbles break every OCR assumption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D5A80"/>
                </a:solidFill>
                <a:latin typeface="DejaVu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593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DejaVu Sans"/>
              </a:rPr>
              <a:t>The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708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Accuracy by panel type, and what kills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3D5A80"/>
                </a:solidFill>
                <a:latin typeface="DejaVu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1091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B2B2B"/>
                </a:solidFill>
                <a:latin typeface="DejaVu Sans"/>
              </a:rPr>
              <a:t>What moves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223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The levers that actually pay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Manga OCR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3F63"/>
                </a:solidFill>
                <a:latin typeface="DejaVu Sans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2B2B"/>
                </a:solidFill>
                <a:latin typeface="DejaVu Sans"/>
              </a:rPr>
              <a:t>Five stages from scan to localized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998878" cy="32918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99887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6331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633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DejaVu San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6331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Find text boxes: speech bubbles, captions, 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7558" y="1828800"/>
            <a:ext cx="1998878" cy="32918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7558" y="1828800"/>
            <a:ext cx="199887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0438" y="2148840"/>
            <a:ext cx="16331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438" y="2514600"/>
            <a:ext cx="1633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DejaVu Sans"/>
              </a:rPr>
              <a:t>Recognize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0438" y="3383280"/>
            <a:ext cx="16331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OCR the original language, keep layout intact.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5036" y="1828800"/>
            <a:ext cx="1998878" cy="32918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5036" y="1828800"/>
            <a:ext cx="199887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7916" y="2148840"/>
            <a:ext cx="16331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7916" y="2514600"/>
            <a:ext cx="1633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DejaVu Sans"/>
              </a:rPr>
              <a:t>Translate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7916" y="3383280"/>
            <a:ext cx="16331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Segment by panel so tone survives the border.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22515" y="1828800"/>
            <a:ext cx="1998878" cy="32918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2515" y="1828800"/>
            <a:ext cx="199887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5395" y="2148840"/>
            <a:ext cx="16331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395" y="2514600"/>
            <a:ext cx="1633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DejaVu Sans"/>
              </a:rPr>
              <a:t>Erase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5395" y="3383280"/>
            <a:ext cx="16331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Inpaint the original text with the panel's art.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9993" y="1828800"/>
            <a:ext cx="1998878" cy="32918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9993" y="1828800"/>
            <a:ext cx="199887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2873" y="2148840"/>
            <a:ext cx="16331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E7B8A"/>
                </a:solidFill>
                <a:latin typeface="DejaVu Sans"/>
              </a:rPr>
              <a:t>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2873" y="2514600"/>
            <a:ext cx="163311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B2B2B"/>
                </a:solidFill>
                <a:latin typeface="DejaVu Sans"/>
              </a:rPr>
              <a:t>Repaint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2873" y="3383280"/>
            <a:ext cx="163311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Refit translated text into the same bubble.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Manga OCR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3F63"/>
                </a:solidFill>
                <a:latin typeface="DejaVu Sans"/>
              </a:rPr>
              <a:t>WHY PANELS ARE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2B2B"/>
                </a:solidFill>
                <a:latin typeface="DejaVu Sans"/>
              </a:rPr>
              <a:t>Speech bubbles break OCR's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08792" cy="19202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D5A80"/>
                </a:solidFill>
                <a:latin typeface="DejaVu Sans"/>
              </a:rPr>
              <a:t>SHAPES, NOT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Printed OCR assumes a straight baseline. Bubbles give it curves, slopes and 30-degree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42316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Text sits on art: hatching, speed lines and halftones leak behind every glyph.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10268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D5A80"/>
                </a:solidFill>
                <a:latin typeface="DejaVu Sans"/>
              </a:rPr>
              <a:t>STYLE IS SEMANTICS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All-caps screams, dots pause, tiny type whispers - the reader hears the art, not just the words.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343400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Each style is a channel. Translate the words but lose the channel and the panel lies.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Manga OCR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3F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0DCE7"/>
                </a:solidFill>
                <a:latin typeface="DejaVu Sans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0DCE7"/>
                </a:solidFill>
                <a:latin typeface="DejaVu Sans"/>
              </a:rPr>
              <a:t>Where translation quality lives and 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0DCE7"/>
                </a:solidFill>
                <a:latin typeface="DejaVu Sans"/>
              </a:rPr>
              <a:t>Manga OCR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3F63"/>
                </a:solidFill>
                <a:latin typeface="DejaVu Sans"/>
              </a:rPr>
              <a:t>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2B2B"/>
                </a:solidFill>
                <a:latin typeface="DejaVu Sans"/>
              </a:rPr>
              <a:t>Accurate recognition by panel type, one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59713"/>
            <a:ext cx="868680" cy="2572207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Dialog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39673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97%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9384" y="1598372"/>
            <a:ext cx="868680" cy="233354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37944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Dialog, 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127833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88%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5808" y="1783995"/>
            <a:ext cx="868680" cy="2147925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Caption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46395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81%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2232" y="1969618"/>
            <a:ext cx="868680" cy="1962302"/>
          </a:xfrm>
          <a:prstGeom prst="rect">
            <a:avLst/>
          </a:prstGeom>
          <a:solidFill>
            <a:srgbClr val="8C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2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2" y="164957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74%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48656" y="2393900"/>
            <a:ext cx="868680" cy="1538020"/>
          </a:xfrm>
          <a:prstGeom prst="rect">
            <a:avLst/>
          </a:prstGeom>
          <a:solidFill>
            <a:srgbClr val="8C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57216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SFX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07386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57%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553005"/>
            <a:ext cx="868680" cy="1378915"/>
          </a:xfrm>
          <a:prstGeom prst="rect">
            <a:avLst/>
          </a:prstGeom>
          <a:solidFill>
            <a:srgbClr val="8C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97764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Tiny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232965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B2B2B"/>
                </a:solidFill>
                <a:latin typeface="DejaVu Sans"/>
              </a:rPr>
              <a:t>52%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389120"/>
            <a:ext cx="6400800" cy="12700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2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1-2 dialog (clean / art), 3 caption, 4 sign, 5 SFX, 6 tiny lettering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9145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character accuracy, blue = reliable, plum = needs a second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031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3D5A80"/>
                </a:solidFill>
                <a:latin typeface="DejaVu Sans"/>
              </a:rPr>
              <a:t>HOW TO 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14600"/>
            <a:ext cx="4023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2B2B2B"/>
                </a:solidFill>
                <a:latin typeface="DejaVu Sans"/>
              </a:rPr>
              <a:t>Clean dialog is already solved at 97%. The last 30% is where a product lives or dies.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84048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2B2B"/>
                </a:solidFill>
                <a:latin typeface="DejaVu Sans"/>
              </a:rPr>
              <a:t>Sound effects and lettering are art, not language - measure them separately, never average them 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Manga OCR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C3F63"/>
                </a:solidFill>
                <a:latin typeface="DejaVu Sans"/>
              </a:rPr>
              <a:t>WHAT MOVES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B2B2B"/>
                </a:solidFill>
                <a:latin typeface="DejaVu Sans"/>
              </a:rPr>
              <a:t>Four levers, ranked by quality gained per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97280" cy="38100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21458" cy="23774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52145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D5A80"/>
                </a:solidFill>
                <a:latin typeface="DejaVu Sans"/>
              </a:rPr>
              <a:t>Panel-first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segment by panel; tone survives the borders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5858" y="1828800"/>
            <a:ext cx="2521458" cy="23774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5858" y="1828800"/>
            <a:ext cx="252145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4458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D5A80"/>
                </a:solidFill>
                <a:latin typeface="DejaVu Sans"/>
              </a:rPr>
              <a:t>Inpaint + repaint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4458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erase and refit inside the same bubble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828800"/>
            <a:ext cx="2521458" cy="23774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1636" y="1828800"/>
            <a:ext cx="252145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D5A80"/>
                </a:solidFill>
                <a:latin typeface="DejaVu Sans"/>
              </a:rPr>
              <a:t>Style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caps, dots and size travel with the words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7414" y="1828800"/>
            <a:ext cx="2521458" cy="2377440"/>
          </a:xfrm>
          <a:prstGeom prst="rect">
            <a:avLst/>
          </a:prstGeom>
          <a:solidFill>
            <a:srgbClr val="F7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27414" y="1828800"/>
            <a:ext cx="2521458" cy="1097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6014" y="2240280"/>
            <a:ext cx="2064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3D5A80"/>
                </a:solidFill>
                <a:latin typeface="DejaVu Sans"/>
              </a:rPr>
              <a:t>Per-type 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6014" y="3063240"/>
            <a:ext cx="206425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2B2B"/>
                </a:solidFill>
                <a:latin typeface="DejaVu Sans"/>
              </a:rPr>
              <a:t>track accuracy per panel type, not one global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7B8A"/>
                </a:solidFill>
                <a:latin typeface="DejaVu Sans"/>
              </a:rPr>
              <a:t>Ranked by quality gained per week: panel-first, repaint, style channels, per-type QA.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E7B8A"/>
                </a:solidFill>
                <a:latin typeface="DejaVu Sans"/>
              </a:rPr>
              <a:t>Manga OCR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3F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554480"/>
            <a:ext cx="548640" cy="50800"/>
          </a:xfrm>
          <a:prstGeom prst="rect">
            <a:avLst/>
          </a:prstGeom>
          <a:solidFill>
            <a:srgbClr val="F0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DejaVu Sans"/>
              </a:rPr>
              <a:t>The panel is the unit, not the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6858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F0DCE7"/>
                </a:solidFill>
                <a:latin typeface="DejaVu Sans"/>
              </a:rPr>
              <a:t>1. Split every page into panels first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F0DCE7"/>
                </a:solidFill>
                <a:latin typeface="DejaVu Sans"/>
              </a:rPr>
              <a:t>2. Keep style channels through translation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F0DCE7"/>
                </a:solidFill>
                <a:latin typeface="DejaVu Sans"/>
              </a:rPr>
              <a:t>3. QA per panel type, not per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ejaVu Sans"/>
              </a:rPr>
              <a:t>Readability of the original is the spec the translation has to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0DCE7"/>
                </a:solidFill>
                <a:latin typeface="DejaVu Sans"/>
              </a:rPr>
              <a:t>Manga OCR  ·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